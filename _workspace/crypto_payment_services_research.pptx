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algun Gothic"/>
              </a:rPr>
              <a:t>크립토 결제 서비스 4종 심층 비교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B8C4D4"/>
                </a:solidFill>
                <a:latin typeface="Malgun Gothic"/>
              </a:rPr>
              <a:t>Base Pay / Binance Pay / Coinbase Commerce / Stripe Crypto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931920"/>
            <a:ext cx="1676095" cy="54864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19295" y="3931920"/>
            <a:ext cx="1676095" cy="54864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5390" y="3931920"/>
            <a:ext cx="1676095" cy="54864"/>
          </a:xfrm>
          <a:prstGeom prst="rect">
            <a:avLst/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1485" y="3931920"/>
            <a:ext cx="1676095" cy="54864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29768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8C4D4"/>
                </a:solidFill>
                <a:latin typeface="Malgun Gothic"/>
              </a:rPr>
              <a:t>결제(Payment) - 정산(Settlement) - 환불(Refund) 전 과정 비교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846320"/>
            <a:ext cx="944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8B9E"/>
                </a:solidFill>
                <a:latin typeface="Malgun Gothic"/>
              </a:rPr>
              <a:t>작성일: 2026-04-15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212080"/>
            <a:ext cx="944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188720"/>
            <a:ext cx="36576" cy="5029200"/>
          </a:xfrm>
          <a:prstGeom prst="rect">
            <a:avLst/>
          </a:prstGeom>
          <a:solidFill>
            <a:srgbClr val="7A8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80160"/>
            <a:ext cx="137160" cy="137160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1887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8909C"/>
                </a:solidFill>
                <a:latin typeface="Malgun Gothic"/>
              </a:rPr>
              <a:t>Part 0: 도입부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188720"/>
            <a:ext cx="7223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4D4"/>
                </a:solidFill>
                <a:latin typeface="Malgun Gothic"/>
              </a:rPr>
              <a:t>#1~#8 -- Executive Summary, 시장 현황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965960"/>
            <a:ext cx="137160" cy="137160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874519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52FF"/>
                </a:solidFill>
                <a:latin typeface="Malgun Gothic"/>
              </a:rPr>
              <a:t>Part 1-A: Base Pay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874519"/>
            <a:ext cx="7223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4D4"/>
                </a:solidFill>
                <a:latin typeface="Malgun Gothic"/>
              </a:rPr>
              <a:t>#9~#20 -- 서비스 개요, 결제/정산/환불, SWOT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51760"/>
            <a:ext cx="137160" cy="137160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5603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B90B"/>
                </a:solidFill>
                <a:latin typeface="Malgun Gothic"/>
              </a:rPr>
              <a:t>Part 1-B: Binance Pay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560320"/>
            <a:ext cx="7223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4D4"/>
                </a:solidFill>
                <a:latin typeface="Malgun Gothic"/>
              </a:rPr>
              <a:t>#21~#28 -- 서비스 개요, 결제/정산/환불, SWOT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37560"/>
            <a:ext cx="137160" cy="137160"/>
          </a:xfrm>
          <a:prstGeom prst="rect">
            <a:avLst/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2461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52F0"/>
                </a:solidFill>
                <a:latin typeface="Malgun Gothic"/>
              </a:rPr>
              <a:t>Part 1-C: Coinbase Commerce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246120"/>
            <a:ext cx="7223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4D4"/>
                </a:solidFill>
                <a:latin typeface="Malgun Gothic"/>
              </a:rPr>
              <a:t>#29~#36 -- 서비스 개요, 결제/정산/환불, SWOT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023359"/>
            <a:ext cx="137160" cy="137160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9319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35BFF"/>
                </a:solidFill>
                <a:latin typeface="Malgun Gothic"/>
              </a:rPr>
              <a:t>Part 1-D: Stripe Crypto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931920"/>
            <a:ext cx="7223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4D4"/>
                </a:solidFill>
                <a:latin typeface="Malgun Gothic"/>
              </a:rPr>
              <a:t>#37~#48 -- 서비스 개요, 결제/정산/환불, SWOT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709159"/>
            <a:ext cx="137160" cy="13716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6177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C6DA"/>
                </a:solidFill>
                <a:latin typeface="Malgun Gothic"/>
              </a:rPr>
              <a:t>Part 2: 교차 비교 분석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617720"/>
            <a:ext cx="7223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4D4"/>
                </a:solidFill>
                <a:latin typeface="Malgun Gothic"/>
              </a:rPr>
              <a:t>#49~#56 -- 수수료, 정산, 환불, 기능, 스코어카드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394959"/>
            <a:ext cx="137160" cy="13716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3035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B47BC"/>
                </a:solidFill>
                <a:latin typeface="Malgun Gothic"/>
              </a:rPr>
              <a:t>Part 3: 전략적 시사점 및 결론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5303520"/>
            <a:ext cx="7223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4D4"/>
                </a:solidFill>
                <a:latin typeface="Malgun Gothic"/>
              </a:rPr>
              <a:t>#57~#64 -- 트렌드, 권고, 결론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Executive Summary -- 전체 핵심 인사이트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486400" cy="256032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5486400" cy="54864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984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52FF"/>
                </a:solidFill>
                <a:latin typeface="Malgun Gothic"/>
              </a:rPr>
              <a:t>Base Pay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521208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업계 유일 온체인 에스크로 기반 Authorize-Capture 프로토콜. Coinbase 생태계(6,000만+) + Shopify(550만) + x402 AI 결제(연간화 $600M). 약점: 법정화폐 직접 정산 미지원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486400" cy="256032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5486400" cy="54864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2984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B90B"/>
                </a:solidFill>
                <a:latin typeface="Malgun Gothic"/>
              </a:rPr>
              <a:t>Binance Pay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645920"/>
            <a:ext cx="521208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누적 거래량 $280B+, 2,000만 가맹점 세계 최대. 오프체인 10,000+ TPS 즉시 정산. B2C 98% 스테이블코인. 약점: 법정화폐 정산 불가, 70개국+ 미진출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31920"/>
            <a:ext cx="5486400" cy="256032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931920"/>
            <a:ext cx="5486400" cy="54864"/>
          </a:xfrm>
          <a:prstGeom prst="rect">
            <a:avLst/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0416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652F0"/>
                </a:solidFill>
                <a:latin typeface="Malgun Gothic"/>
              </a:rPr>
              <a:t>Coinbase Commerce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389120"/>
            <a:ext cx="521208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시장점유율 12%(3위). Base L2 + Shopify 파트너십. 비용 우위(1% vs 2.9%). 약점: 환불 업계 최하위, 2026.03 Commerce 종료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931920"/>
            <a:ext cx="5486400" cy="256032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931920"/>
            <a:ext cx="5486400" cy="54864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0416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35BFF"/>
                </a:solidFill>
                <a:latin typeface="Malgun Gothic"/>
              </a:rPr>
              <a:t>Stripe Crypto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389120"/>
            <a:ext cx="521208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Bridge($1.1B)+Tempo+Privy 수직 통합 '스테이블코인 풀스택 클라우드'. 가맹점 크립토 노출 완전 제거. 약점: 미국 전용, 1.5% 프리미엄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Executive Summary -- 서비스별 한 줄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188720"/>
          <a:ext cx="112471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00400"/>
                <a:gridCol w="3200400"/>
                <a:gridCol w="320040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서비스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핵심 포지션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최대 강점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최대 약점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B8C4D4"/>
                          </a:solidFill>
                          <a:latin typeface="Malgun Gothic"/>
                        </a:rPr>
                        <a:t>Base Pay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B8C4D4"/>
                          </a:solidFill>
                          <a:latin typeface="Malgun Gothic"/>
                        </a:rPr>
                        <a:t>프로그래머블 온체인 결제 인프라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B8C4D4"/>
                          </a:solidFill>
                          <a:latin typeface="Malgun Gothic"/>
                        </a:rPr>
                        <a:t>에스크로, 오픈소스, 다층 수익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B8C4D4"/>
                          </a:solidFill>
                          <a:latin typeface="Malgun Gothic"/>
                        </a:rPr>
                        <a:t>법정화폐 정산 미지원, 고객 지원 부재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B8C4D4"/>
                          </a:solidFill>
                          <a:latin typeface="Malgun Gothic"/>
                        </a:rPr>
                        <a:t>Binance Pay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B8C4D4"/>
                          </a:solidFill>
                          <a:latin typeface="Malgun Gothic"/>
                        </a:rPr>
                        <a:t>거래소 생태계 내장형 대규모 결제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B8C4D4"/>
                          </a:solidFill>
                          <a:latin typeface="Malgun Gothic"/>
                        </a:rPr>
                        <a:t>3억 사용자, 즉시정산, 가스비 0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B8C4D4"/>
                          </a:solidFill>
                          <a:latin typeface="Malgun Gothic"/>
                        </a:rPr>
                        <a:t>법정화폐 정산 불가, 폐쇄적 생태계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B8C4D4"/>
                          </a:solidFill>
                          <a:latin typeface="Malgun Gothic"/>
                        </a:rPr>
                        <a:t>Coinbase Commerce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B8C4D4"/>
                          </a:solidFill>
                          <a:latin typeface="Malgun Gothic"/>
                        </a:rPr>
                        <a:t>기관 통합형 온체인 결제 게이트웨이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B8C4D4"/>
                          </a:solidFill>
                          <a:latin typeface="Malgun Gothic"/>
                        </a:rPr>
                        <a:t>Base L2 소유, Shopify, 비용 우위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B8C4D4"/>
                          </a:solidFill>
                          <a:latin typeface="Malgun Gothic"/>
                        </a:rPr>
                        <a:t>환불 자동화 부재, 플랫폼 전환 불확실성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B8C4D4"/>
                          </a:solidFill>
                          <a:latin typeface="Malgun Gothic"/>
                        </a:rPr>
                        <a:t>Stripe Crypto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B8C4D4"/>
                          </a:solidFill>
                          <a:latin typeface="Malgun Gothic"/>
                        </a:rPr>
                        <a:t>전통 결제 + 크립토 수직 통합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B8C4D4"/>
                          </a:solidFill>
                          <a:latin typeface="Malgun Gothic"/>
                        </a:rPr>
                        <a:t>zero-crypto 경험, 개발자 UX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B8C4D4"/>
                          </a:solidFill>
                          <a:latin typeface="Malgun Gothic"/>
                        </a:rPr>
                        <a:t>미국 전용, 1.5% 프리미엄, T+2 정산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크립토 결제 시장 현황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2651760" cy="137160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2651760" cy="36576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algun Gothic"/>
              </a:rPr>
              <a:t>$2.95B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574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8B9E"/>
                </a:solidFill>
                <a:latin typeface="Malgun Gothic"/>
              </a:rPr>
              <a:t>결제 앱 시장 (2035)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188720"/>
            <a:ext cx="2651760" cy="137160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188720"/>
            <a:ext cx="2651760" cy="36576"/>
          </a:xfrm>
          <a:prstGeom prst="rect">
            <a:avLst/>
          </a:prstGeom>
          <a:solidFill>
            <a:srgbClr val="44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141732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algun Gothic"/>
              </a:rPr>
              <a:t>$4.74B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0574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8B9E"/>
                </a:solidFill>
                <a:latin typeface="Malgun Gothic"/>
              </a:rPr>
              <a:t>게이트웨이 시장 (2030)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188720"/>
            <a:ext cx="2651760" cy="137160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188720"/>
            <a:ext cx="2651760" cy="36576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41732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algun Gothic"/>
              </a:rPr>
              <a:t>$89.4B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0574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8B9E"/>
                </a:solidFill>
                <a:latin typeface="Malgun Gothic"/>
              </a:rPr>
              <a:t>스테이블코인 인프라 (2034)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1188720"/>
            <a:ext cx="2651760" cy="137160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1188720"/>
            <a:ext cx="2651760" cy="36576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141732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algun Gothic"/>
              </a:rPr>
              <a:t>+43%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0574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8B9E"/>
                </a:solidFill>
                <a:latin typeface="Malgun Gothic"/>
              </a:rPr>
              <a:t>미국 결제 사용 증가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83464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B8C4D4"/>
                </a:solidFill>
                <a:latin typeface="Malgun Gothic"/>
              </a:rPr>
              <a:t>• 스테이블코인 시가총액: ~$3,086억 (2026.01) -&gt; 연말 $1조 초과 전망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B8C4D4"/>
                </a:solidFill>
                <a:latin typeface="Malgun Gothic"/>
              </a:rPr>
              <a:t>• 스테이블코인 연간 결제 볼륨: $3,900억 (실질 결제, McKinsey)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B8C4D4"/>
                </a:solidFill>
                <a:latin typeface="Malgun Gothic"/>
              </a:rPr>
              <a:t>• B2B 스테이블코인 거래량: $4,000억 (전년 대비 2배, PYMNTS)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B8C4D4"/>
                </a:solidFill>
                <a:latin typeface="Malgun Gothic"/>
              </a:rPr>
              <a:t>• 미국 가맹점 암호화폐 결제 수용률: 39%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263640"/>
            <a:ext cx="11094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B9E"/>
                </a:solidFill>
                <a:latin typeface="Malgun Gothic"/>
              </a:rPr>
              <a:t>출처: Research Nester, GII Research, McKinsey, PYMNTS, CoinLaw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크립토 결제 시장 -- 5대 핵심 트렌드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86868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88720"/>
            <a:ext cx="36576" cy="86868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1344168"/>
            <a:ext cx="365760" cy="365760"/>
          </a:xfrm>
          <a:prstGeom prst="ellipse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261872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스테이블코인 결제 폭발적 성장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57276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C4D4"/>
                </a:solidFill>
                <a:latin typeface="Malgun Gothic"/>
              </a:rPr>
              <a:t>2025년 $33T 거래량, Binance Pay B2C의 98%가 스테이블코인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67128"/>
            <a:ext cx="11064240" cy="86868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167128"/>
            <a:ext cx="36576" cy="86868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2322576"/>
            <a:ext cx="365760" cy="365760"/>
          </a:xfrm>
          <a:prstGeom prst="ellipse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24028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L2 기반 결제 실용화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551176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C4D4"/>
                </a:solidFill>
                <a:latin typeface="Malgun Gothic"/>
              </a:rPr>
              <a:t>가스비 $0.01 이하 + 서브초 정산으로 상거래 수준 도달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45535"/>
            <a:ext cx="11064240" cy="86868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145535"/>
            <a:ext cx="36576" cy="86868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3300983"/>
            <a:ext cx="365760" cy="365760"/>
          </a:xfrm>
          <a:prstGeom prst="ellipse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218687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AI 에이전트 결제(Machine Payments) 부상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529583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C4D4"/>
                </a:solidFill>
                <a:latin typeface="Malgun Gothic"/>
              </a:rPr>
              <a:t>x402, MPP, ACP 등 프로토콜 경쟁 시작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123944"/>
            <a:ext cx="11064240" cy="86868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123944"/>
            <a:ext cx="36576" cy="86868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5800" y="4279392"/>
            <a:ext cx="365760" cy="365760"/>
          </a:xfrm>
          <a:prstGeom prst="ellipse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197096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전통 결제사의 크립토 진출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50799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C4D4"/>
                </a:solidFill>
                <a:latin typeface="Malgun Gothic"/>
              </a:rPr>
              <a:t>Stripe(1.5%), PayPal(PYUSD), Visa가 본격 참여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102351"/>
            <a:ext cx="11064240" cy="86868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102351"/>
            <a:ext cx="36576" cy="86868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5800" y="5257799"/>
            <a:ext cx="365760" cy="365760"/>
          </a:xfrm>
          <a:prstGeom prst="ellipse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5175503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규제 명확화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486399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C4D4"/>
                </a:solidFill>
                <a:latin typeface="Malgun Gothic"/>
              </a:rPr>
              <a:t>US GENIUS Act(2027.01 발효), EU MiCA 전면 시행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크립토 결제 시장 경쟁 구도 -- 3대 진영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3566160" cy="411480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3566160" cy="54864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9844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B90B"/>
                </a:solidFill>
                <a:latin typeface="Malgun Gothic"/>
              </a:rPr>
              <a:t>진영 1: 거래소 내장형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3291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Binance Pay, Crypto.com Pay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자사 사용자 기반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크립토-크립토 정산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188720"/>
            <a:ext cx="3566160" cy="411480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188720"/>
            <a:ext cx="3566160" cy="54864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29844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8909C"/>
                </a:solidFill>
                <a:latin typeface="Malgun Gothic"/>
              </a:rPr>
              <a:t>진영 2: 전통 게이트웨이형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645920"/>
            <a:ext cx="3291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BitPay, CoinGate, NOWPayments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크립토 수취 -&gt; 법정화폐 전환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188720"/>
            <a:ext cx="3566160" cy="411480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188720"/>
            <a:ext cx="3566160" cy="54864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29844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35BFF"/>
                </a:solidFill>
                <a:latin typeface="Malgun Gothic"/>
              </a:rPr>
              <a:t>진영 3: 전통 결제 확장형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645920"/>
            <a:ext cx="3291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PayPal, Stripe, Coinbase Commerce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기존 인프라에 크립토 통합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5778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A8B9E"/>
                </a:solidFill>
                <a:latin typeface="Malgun Gothic"/>
              </a:rPr>
              <a:t>시장 점유율: BitPay 20% | CoinGate 14% | Coinbase Commerce 12% | Binance Pay 8%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경쟁사 포지셔닝 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474720"/>
            <a:ext cx="9601200" cy="18288"/>
          </a:xfrm>
          <a:prstGeom prst="rect">
            <a:avLst/>
          </a:prstGeom>
          <a:solidFill>
            <a:srgbClr val="7A8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188720"/>
            <a:ext cx="18288" cy="4754880"/>
          </a:xfrm>
          <a:prstGeom prst="rect">
            <a:avLst/>
          </a:prstGeom>
          <a:solidFill>
            <a:srgbClr val="7A8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5989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8B9E"/>
                </a:solidFill>
                <a:latin typeface="Malgun Gothic"/>
              </a:rPr>
              <a:t>법정화폐 통합도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017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8B9E"/>
                </a:solidFill>
                <a:latin typeface="Malgun Gothic"/>
              </a:rPr>
              <a:t>온체인 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1887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B9E"/>
                </a:solidFill>
                <a:latin typeface="Malgun Gothic"/>
              </a:rPr>
              <a:t>프로그래머블 + 크립토 네이티브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1887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5252"/>
                </a:solidFill>
                <a:latin typeface="Malgun Gothic"/>
              </a:rPr>
              <a:t>프로그래머블 + 법정화폐 통합 (최대 위협)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657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B9E"/>
                </a:solidFill>
                <a:latin typeface="Malgun Gothic"/>
              </a:rPr>
              <a:t>단순 + 크립토 네이티브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657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B9E"/>
                </a:solidFill>
                <a:latin typeface="Malgun Gothic"/>
              </a:rPr>
              <a:t>단순 + 법정화폐 통합</a:t>
            </a:r>
          </a:p>
        </p:txBody>
      </p:sp>
      <p:sp>
        <p:nvSpPr>
          <p:cNvPr id="16" name="Oval 15"/>
          <p:cNvSpPr/>
          <p:nvPr/>
        </p:nvSpPr>
        <p:spPr>
          <a:xfrm>
            <a:off x="2743200" y="1828800"/>
            <a:ext cx="640080" cy="640080"/>
          </a:xfrm>
          <a:prstGeom prst="ellipse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Base Pay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0" y="1828800"/>
            <a:ext cx="731520" cy="731520"/>
          </a:xfrm>
          <a:prstGeom prst="ellipse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Stripe</a:t>
            </a:r>
          </a:p>
        </p:txBody>
      </p:sp>
      <p:sp>
        <p:nvSpPr>
          <p:cNvPr id="18" name="Oval 17"/>
          <p:cNvSpPr/>
          <p:nvPr/>
        </p:nvSpPr>
        <p:spPr>
          <a:xfrm>
            <a:off x="3200400" y="4572000"/>
            <a:ext cx="822960" cy="822960"/>
          </a:xfrm>
          <a:prstGeom prst="ellipse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Binance Pay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0" y="2743200"/>
            <a:ext cx="548640" cy="548640"/>
          </a:xfrm>
          <a:prstGeom prst="ellipse">
            <a:avLst/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Coinbase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0" y="4572000"/>
            <a:ext cx="548640" cy="548640"/>
          </a:xfrm>
          <a:prstGeom prst="ellipse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PayPal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[Base Pay] 서비스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4D4"/>
                </a:solidFill>
                <a:latin typeface="Malgun Gothic"/>
              </a:rPr>
              <a:t>Coinbase L2 블록체인 Base 네트워크 위에 구축된 결제 인프라 생태계.
핵심: Commerce Payments Protocol -- 오픈소스 온체인 Authorize-Capture 결제 프로토콜.
업계 유일의 온체인 에스크로 기반 결제 시스템으로, 전통 결제의 승인-캡처-환불-취소 흐름을 스마트 컨트랙트로 재현.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760720" y="1188720"/>
          <a:ext cx="594360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11480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내용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정산 속도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Base ~2초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거래 수수료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가스비 ~$0.01 + 플랫폼 1%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결제 보장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머천트 정확한 요청 금액 수령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토큰 유연성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Uniswap V3 유동성 있는 모든 토큰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오픈소스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Apache 2.0 라이선스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[Base Pay] 제품/프로토콜 라인업 및 타임라인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188720"/>
          <a:ext cx="112471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371600"/>
                <a:gridCol w="4114800"/>
                <a:gridCol w="320040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프로토콜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세대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핵심 기능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배포 상태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Transfers.sol (1세대)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즉시 결제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직접 토큰 전송, Uniswap V3 스왑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Base, ETH, Polygon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AuthCaptureEscrow (2세대)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에스크로 결제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Authorize-Capture-Void-Refund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Base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x402 프로토콜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머신 결제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HTTP 402 기반 AI 에이전트 결제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Base, Solana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Coinbase Business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통합 플랫폼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커스터디, 법정화폐 정산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미국/싱가포르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914400" y="5029200"/>
            <a:ext cx="10058400" cy="18288"/>
          </a:xfrm>
          <a:prstGeom prst="rect">
            <a:avLst/>
          </a:prstGeom>
          <a:solidFill>
            <a:srgbClr val="7A8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4937760"/>
            <a:ext cx="182880" cy="182880"/>
          </a:xfrm>
          <a:prstGeom prst="ellipse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51663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A8B9E"/>
                </a:solidFill>
                <a:latin typeface="Malgun Gothic"/>
              </a:rPr>
              <a:t>~2024
Commerce</a:t>
            </a:r>
          </a:p>
        </p:txBody>
      </p:sp>
      <p:sp>
        <p:nvSpPr>
          <p:cNvPr id="12" name="Oval 11"/>
          <p:cNvSpPr/>
          <p:nvPr/>
        </p:nvSpPr>
        <p:spPr>
          <a:xfrm>
            <a:off x="3429000" y="4937760"/>
            <a:ext cx="182880" cy="182880"/>
          </a:xfrm>
          <a:prstGeom prst="ellipse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51663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A8B9E"/>
                </a:solidFill>
                <a:latin typeface="Malgun Gothic"/>
              </a:rPr>
              <a:t>2025중반
Protocol 공개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0" y="4937760"/>
            <a:ext cx="182880" cy="182880"/>
          </a:xfrm>
          <a:prstGeom prst="ellipse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51663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A8B9E"/>
                </a:solidFill>
                <a:latin typeface="Malgun Gothic"/>
              </a:rPr>
              <a:t>2025.09
x402 출시</a:t>
            </a:r>
          </a:p>
        </p:txBody>
      </p:sp>
      <p:sp>
        <p:nvSpPr>
          <p:cNvPr id="16" name="Oval 15"/>
          <p:cNvSpPr/>
          <p:nvPr/>
        </p:nvSpPr>
        <p:spPr>
          <a:xfrm>
            <a:off x="8458200" y="4937760"/>
            <a:ext cx="182880" cy="182880"/>
          </a:xfrm>
          <a:prstGeom prst="ellipse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51663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A8B9E"/>
                </a:solidFill>
                <a:latin typeface="Malgun Gothic"/>
              </a:rPr>
              <a:t>2026.02
Stripe x402</a:t>
            </a:r>
          </a:p>
        </p:txBody>
      </p:sp>
      <p:sp>
        <p:nvSpPr>
          <p:cNvPr id="18" name="Oval 17"/>
          <p:cNvSpPr/>
          <p:nvPr/>
        </p:nvSpPr>
        <p:spPr>
          <a:xfrm>
            <a:off x="10972800" y="4937760"/>
            <a:ext cx="182880" cy="182880"/>
          </a:xfrm>
          <a:prstGeom prst="ellipse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0" y="51663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A8B9E"/>
                </a:solidFill>
                <a:latin typeface="Malgun Gothic"/>
              </a:rPr>
              <a:t>2026.03.31
Commerce 종료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[Base Pay] 결제 시나리오 A: 즉시 결제 (Charge)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691640" cy="640080"/>
          </a:xfrm>
          <a:prstGeom prst="roundRect">
            <a:avLst/>
          </a:prstGeom>
          <a:solidFill>
            <a:srgbClr val="1C2940"/>
          </a:solidFill>
          <a:ln w="1270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1. 결제 요청 생성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508760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8B9E"/>
                </a:solidFill>
                <a:latin typeface="Malgun Gothi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1280160"/>
            <a:ext cx="1691640" cy="640080"/>
          </a:xfrm>
          <a:prstGeom prst="roundRect">
            <a:avLst/>
          </a:prstGeom>
          <a:solidFill>
            <a:srgbClr val="1C2940"/>
          </a:solidFill>
          <a:ln w="1270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2. TransferIntent
생성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1508760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8B9E"/>
                </a:solidFill>
                <a:latin typeface="Malgun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1280160"/>
            <a:ext cx="1691640" cy="640080"/>
          </a:xfrm>
          <a:prstGeom prst="roundRect">
            <a:avLst/>
          </a:prstGeom>
          <a:solidFill>
            <a:srgbClr val="1C2940"/>
          </a:solidFill>
          <a:ln w="1270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3. 지갑 연결
결제 승인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1508760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8B9E"/>
                </a:solidFill>
                <a:latin typeface="Malgun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1280160"/>
            <a:ext cx="1691640" cy="640080"/>
          </a:xfrm>
          <a:prstGeom prst="roundRect">
            <a:avLst/>
          </a:prstGeom>
          <a:solidFill>
            <a:srgbClr val="1C2940"/>
          </a:solidFill>
          <a:ln w="1270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4. 스마트 컨트랙트
실행(자동 스왑)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1508760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8B9E"/>
                </a:solidFill>
                <a:latin typeface="Malgun Gothic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1280160"/>
            <a:ext cx="1691640" cy="640080"/>
          </a:xfrm>
          <a:prstGeom prst="roundRect">
            <a:avLst/>
          </a:prstGeom>
          <a:solidFill>
            <a:srgbClr val="1C2940"/>
          </a:solidFill>
          <a:ln w="1270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5. 머천트 지갑
정산 전송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1508760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8B9E"/>
                </a:solidFill>
                <a:latin typeface="Malgun Gothi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1280160"/>
            <a:ext cx="1691640" cy="640080"/>
          </a:xfrm>
          <a:prstGeom prst="roundRect">
            <a:avLst/>
          </a:prstGeom>
          <a:solidFill>
            <a:srgbClr val="1C2940"/>
          </a:solidFill>
          <a:ln w="1270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6. 이벤트 발행
(~2초)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57200" y="3840480"/>
          <a:ext cx="1124712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657600"/>
                <a:gridCol w="484632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금액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부담 주체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플랫폼 수수료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1%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머천트 (정산에서 차감)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네트워크 가스비 (Base)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~$0.01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구매자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DEX 스왑 슬리피지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변동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구매자 (토큰 다를 경우)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57200" y="21945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A8B9E"/>
                </a:solidFill>
                <a:latin typeface="Malgun Gothic"/>
              </a:rPr>
              <a:t>적합 사용처: 디지털 상품, 구독 활성화, 에스크로 불필요 시나리오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[Base Pay] 결제 시나리오 B: 인가-캡처 결제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691640" cy="640080"/>
          </a:xfrm>
          <a:prstGeom prst="roundRect">
            <a:avLst/>
          </a:prstGeom>
          <a:solidFill>
            <a:srgbClr val="1C2940"/>
          </a:solidFill>
          <a:ln w="1270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1. PaymentInfo
생성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508760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8B9E"/>
                </a:solidFill>
                <a:latin typeface="Malgun Gothi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1280160"/>
            <a:ext cx="1691640" cy="640080"/>
          </a:xfrm>
          <a:prstGeom prst="roundRect">
            <a:avLst/>
          </a:prstGeom>
          <a:solidFill>
            <a:srgbClr val="1C2940"/>
          </a:solidFill>
          <a:ln w="1270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2. 구매자
결제 승인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1508760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8B9E"/>
                </a:solidFill>
                <a:latin typeface="Malgun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1280160"/>
            <a:ext cx="1691640" cy="640080"/>
          </a:xfrm>
          <a:prstGeom prst="roundRect">
            <a:avLst/>
          </a:prstGeom>
          <a:solidFill>
            <a:srgbClr val="1C2940"/>
          </a:solidFill>
          <a:ln w="1270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3. Authorize
에스크로 예치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1508760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8B9E"/>
                </a:solidFill>
                <a:latin typeface="Malgun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1280160"/>
            <a:ext cx="1691640" cy="640080"/>
          </a:xfrm>
          <a:prstGeom prst="roundRect">
            <a:avLst/>
          </a:prstGeom>
          <a:solidFill>
            <a:srgbClr val="1C2940"/>
          </a:solidFill>
          <a:ln w="1270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4. [대기 기간]
주문/배송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1508760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8B9E"/>
                </a:solidFill>
                <a:latin typeface="Malgun Gothic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1280160"/>
            <a:ext cx="1691640" cy="640080"/>
          </a:xfrm>
          <a:prstGeom prst="roundRect">
            <a:avLst/>
          </a:prstGeom>
          <a:solidFill>
            <a:srgbClr val="1C2940"/>
          </a:solidFill>
          <a:ln w="1270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5. Capture
머천트 전송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1508760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8B9E"/>
                </a:solidFill>
                <a:latin typeface="Malgun Gothi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1280160"/>
            <a:ext cx="1691640" cy="640080"/>
          </a:xfrm>
          <a:prstGeom prst="roundRect">
            <a:avLst/>
          </a:prstGeom>
          <a:solidFill>
            <a:srgbClr val="1C2940"/>
          </a:solidFill>
          <a:ln w="1270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6. 미캡처분
자동 반환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0040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• 에스크로 메커니즘: Minimal Proxy 패턴, 오퍼레이터별 격리, 비업그레이드, ReentrancyGuard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• 부분 캡처 지원 -- 분할 배송에도 유연하게 대응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• 수수료: 1% (Capture 시 차감), 가스비 ~$0.01 (Authorize/Capture 각각), Void 시 수수료 없음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• 적합 사용처: 실물 이커머스, 예약/호텔, 세금 확정 후 결제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[Base Pay] 결제 시나리오 C: x402 머신/AI 에이전트 결제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691640" cy="640080"/>
          </a:xfrm>
          <a:prstGeom prst="roundRect">
            <a:avLst/>
          </a:prstGeom>
          <a:solidFill>
            <a:srgbClr val="1C2940"/>
          </a:solidFill>
          <a:ln w="1270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1. AI 에이전트
HTTP 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508760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8B9E"/>
                </a:solidFill>
                <a:latin typeface="Malgun Gothi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1280160"/>
            <a:ext cx="1691640" cy="640080"/>
          </a:xfrm>
          <a:prstGeom prst="roundRect">
            <a:avLst/>
          </a:prstGeom>
          <a:solidFill>
            <a:srgbClr val="1C2940"/>
          </a:solidFill>
          <a:ln w="1270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2. 서버 HTTP 402
+ Invoice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1508760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8B9E"/>
                </a:solidFill>
                <a:latin typeface="Malgun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1280160"/>
            <a:ext cx="1691640" cy="640080"/>
          </a:xfrm>
          <a:prstGeom prst="roundRect">
            <a:avLst/>
          </a:prstGeom>
          <a:solidFill>
            <a:srgbClr val="1C2940"/>
          </a:solidFill>
          <a:ln w="1270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3. 클라이언트
결제 서명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1508760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8B9E"/>
                </a:solidFill>
                <a:latin typeface="Malgun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1280160"/>
            <a:ext cx="1691640" cy="640080"/>
          </a:xfrm>
          <a:prstGeom prst="roundRect">
            <a:avLst/>
          </a:prstGeom>
          <a:solidFill>
            <a:srgbClr val="1C2940"/>
          </a:solidFill>
          <a:ln w="1270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4. PAYMENT-SIG
헤더 재요청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1508760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8B9E"/>
                </a:solidFill>
                <a:latin typeface="Malgun Gothic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1280160"/>
            <a:ext cx="1691640" cy="640080"/>
          </a:xfrm>
          <a:prstGeom prst="roundRect">
            <a:avLst/>
          </a:prstGeom>
          <a:solidFill>
            <a:srgbClr val="1C2940"/>
          </a:solidFill>
          <a:ln w="1270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5. Facilitator
검증+시뮬레이션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1508760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8B9E"/>
                </a:solidFill>
                <a:latin typeface="Malgun Gothi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1280160"/>
            <a:ext cx="1691640" cy="640080"/>
          </a:xfrm>
          <a:prstGeom prst="roundRect">
            <a:avLst/>
          </a:prstGeom>
          <a:solidFill>
            <a:srgbClr val="1C2940"/>
          </a:solidFill>
          <a:ln w="1270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6. 온체인 정산
HTTP 200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57200" y="3657600"/>
          <a:ext cx="1124712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029200"/>
                <a:gridCol w="438912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스킴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설명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환불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exact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고정 금액 결제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별도 프로세스 필요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upto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사용량 기반 최대 금액 설정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미사용분 미과금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57200" y="22860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C4D4"/>
                </a:solidFill>
                <a:latin typeface="Malgun Gothic"/>
              </a:rPr>
              <a:t>성장: Base 1.19억+ 트랜잭션 | 연간화 ~$600M | USDC 98.7% | Foundation: Google, AWS, Visa, Circle, Anthropic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[Base Pay] 지원 네트워크/토큰 및 통합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188720"/>
          <a:ext cx="1124712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3200400"/>
                <a:gridCol w="347472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체인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환경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1세대 컨트랙트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2세대 컨트랙트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Base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Mainnet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지원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지원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Ethereum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Mainnet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지원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--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Polygon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Mainnet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지원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--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3200400"/>
          <a:ext cx="1124712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3474720"/>
                <a:gridCol w="292608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지갑 유형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토큰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권장 Collector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UX 품질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EOA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USDC/EURC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ERC3009PaymentCollector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최상 (1 서명)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EOA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기타 ERC-20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Permit2PaymentCollector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양호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Coinbase Smart Wallet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모든 토큰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SpendPermissionCollector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최상 (구독)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3035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8B9E"/>
                </a:solidFill>
                <a:latin typeface="Malgun Gothic"/>
              </a:rPr>
              <a:t>통합: Shopify 플러그인(매우 낮음) | Commerce API(낮음) | 스마트 컨트랙트(높음) | x402 HTTP(낮음)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[Base Pay] 정산 시나리오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B8C4D4"/>
                </a:solidFill>
                <a:latin typeface="Malgun Gothic"/>
              </a:rPr>
              <a:t>• 암호화폐 직접 정산 -- 즉시 정산(Charge): ~2초, 에스크로 정산(Capture): Capture 시 즉시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B8C4D4"/>
                </a:solidFill>
                <a:latin typeface="Malgun Gothic"/>
              </a:rPr>
              <a:t>• 정산 통화: USDC(기본), ETH/기타, 자동 변환(Uniswap V3 DEX)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B8C4D4"/>
                </a:solidFill>
                <a:latin typeface="Malgun Gothic"/>
              </a:rPr>
              <a:t>• 법정화폐 정산 경로 (간접):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B8C4D4"/>
                </a:solidFill>
                <a:latin typeface="Malgun Gothic"/>
              </a:rPr>
              <a:t>•   1) Coinbase Business 경유 (미국/싱가포르만): USDC -&gt; fiat -&gt; 은행 (+1-5 영업일)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B8C4D4"/>
                </a:solidFill>
                <a:latin typeface="Malgun Gothic"/>
              </a:rPr>
              <a:t>•   2) Coinbase 거래소 경유 (글로벌): USDC -&gt; USD -&gt; 은행 출금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B8C4D4"/>
                </a:solidFill>
                <a:latin typeface="Malgun Gothic"/>
              </a:rPr>
              <a:t>•   3) Shopify 통합 경유: Stripe 인프라 활용 현지 통화 정산 (수수료 0%)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4114800"/>
          <a:ext cx="1124712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93192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시나리오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머천트 수령액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구매자 총비용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USDC -&gt; USDC (스왑 없음)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$99.00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~$100.01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ETH -&gt; USDC (스왑 있음)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$99.00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~$100.11~$100.51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[Base Pay] 환불 시나리오 (4가지)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188720"/>
          <a:ext cx="112471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72000"/>
                <a:gridCol w="2286000"/>
                <a:gridCol w="210312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시나리오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설명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수수료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속도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A. Void (캡처 전 취소)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전체 잔여 금액 즉시 반환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미발생 (~$0.01)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~2초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B. Refund (캡처 후)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RefundCollector로 부분/전액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가스비 ~$0.01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~2초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C. Reclaim (만료 후)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구매자 직접 reclaim() 호출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가스비 ~$0.01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~2초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D. Charge 후 환불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1세대: 수동 / 2세대: refund()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가스비 ~$0.01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~2초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1148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C4D4"/>
                </a:solidFill>
                <a:latin typeface="Malgun Gothic"/>
              </a:rPr>
              <a:t>refundExpiry: 결제 생성 시 사전 정의, 만료 후 환불 불가
분쟁 해결: 차지백 없음 (머천트 유리), 에스크로가 부분적 보완
상태 머신: Created -&gt; Authorized -&gt; Captured/Voided/Reclaimed -&gt; Refunded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[Base Pay] 수익 구조 -- 5개 레이어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6647" y="1280160"/>
            <a:ext cx="10058400" cy="777240"/>
          </a:xfrm>
          <a:prstGeom prst="rect">
            <a:avLst/>
          </a:prstGeom>
          <a:solidFill>
            <a:srgbClr val="0A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Malgun Gothic"/>
              </a:rPr>
              <a:t>Layer 0: USDC Revenue Share -- $332.5M/분기 (Coinbase 매출의 22%)</a:t>
            </a:r>
          </a:p>
        </p:txBody>
      </p:sp>
      <p:sp>
        <p:nvSpPr>
          <p:cNvPr id="9" name="Rectangle 8"/>
          <p:cNvSpPr/>
          <p:nvPr/>
        </p:nvSpPr>
        <p:spPr>
          <a:xfrm>
            <a:off x="1752447" y="2194560"/>
            <a:ext cx="8686800" cy="777240"/>
          </a:xfrm>
          <a:prstGeom prst="rect">
            <a:avLst/>
          </a:prstGeom>
          <a:solidFill>
            <a:srgbClr val="0C3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Malgun Gothic"/>
              </a:rPr>
              <a:t>Layer 1: Base 시퀀서 수수료 -- $75.4M/년 (L2 전체의 62%)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38247" y="3108960"/>
            <a:ext cx="7315200" cy="777240"/>
          </a:xfrm>
          <a:prstGeom prst="rect">
            <a:avLst/>
          </a:prstGeom>
          <a:solidFill>
            <a:srgbClr val="0E3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Malgun Gothic"/>
              </a:rPr>
              <a:t>Layer 2: x402 Facilitator 수수료 -- 월 1,000건 무료, 이후 과금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24047" y="4023360"/>
            <a:ext cx="5943600" cy="777240"/>
          </a:xfrm>
          <a:prstGeom prst="rect">
            <a:avLst/>
          </a:prstGeom>
          <a:solidFill>
            <a:srgbClr val="104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Malgun Gothic"/>
              </a:rPr>
              <a:t>Layer 3: Commerce 결제 수수료 -- 1% 고정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09847" y="4937760"/>
            <a:ext cx="4572000" cy="777240"/>
          </a:xfrm>
          <a:prstGeom prst="rect">
            <a:avLst/>
          </a:prstGeom>
          <a:solidFill>
            <a:srgbClr val="124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Malgun Gothic"/>
              </a:rPr>
              <a:t>Layer 4: Coinbase Business -- 커스터디, 환전, 출금 수수료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8B9E"/>
                </a:solidFill>
                <a:latin typeface="Malgun Gothic"/>
              </a:rPr>
              <a:t>전략: Commerce 1%는 박한 마진이나, Base 트랜잭션 볼륨 + USDC 유통량 + 사용자 온보딩을 동시 달성하는 인프라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[Base Pay] 기술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394960" cy="320040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5394960" cy="54864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9844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52FF"/>
                </a:solidFill>
                <a:latin typeface="Malgun Gothic"/>
              </a:rPr>
              <a:t>1세대 Transfers.sol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5120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즉시 결제, 9가지 함수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Permit2 + Uniswap V3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3개 체인 배포 (Base, ETH, Polygon)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188720"/>
            <a:ext cx="5394960" cy="320040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188720"/>
            <a:ext cx="5394960" cy="54864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29844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52FF"/>
                </a:solidFill>
                <a:latin typeface="Malgun Gothic"/>
              </a:rPr>
              <a:t>2세대 AuthCaptureEscrow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645920"/>
            <a:ext cx="5120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에스크로 기반 6가지 연산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Token Collector 모듈 5종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PaymentInfo 구조체, Base 전용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720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C4D4"/>
                </a:solidFill>
                <a:latin typeface="Malgun Gothic"/>
              </a:rPr>
              <a:t>기술 스택: Solidity ^0.8.17, Foundry, OpenZeppelin, Uniswap V3, Apache 2.0
보안: Spearbit + Coinbase Protocol Security 감사, 비업그레이드 컨트랙트, ReentrancyGuard
x402: TypeScript/Python/Rust SDK, EIP-3009, Witness 패턴, 프라이빗 멤풀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[Base Pay] 사용자 인사이트 -- 강점 &amp; 약점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486400" cy="484632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5486400" cy="54864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853"/>
                </a:solidFill>
                <a:latin typeface="Malgun Gothic"/>
              </a:rPr>
              <a:t>호평 / Strengths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9164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• 서브초 정산 속도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• 낮은 수수료 (카드 대비 66% 절감)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• Shopify 네이티브 통합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• 차지백 리스크 제거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• 에스크로 (Auth-Capture)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486400" cy="484632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5486400" cy="54864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2801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5252"/>
                </a:solidFill>
                <a:latin typeface="Malgun Gothic"/>
              </a:rPr>
              <a:t>Pain Points / 약점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69164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• [심각] 고객 지원 부재 (4-5일 응답)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• [심각] Commerce 종료/강제 마이그레이션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• [높음] 법정화폐 직접 정산 미지원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• [높음] 수동 환불 프로세스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• [높음] 자금 인출 어려움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6126480"/>
            <a:ext cx="36576" cy="36576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5252"/>
                </a:solidFill>
                <a:latin typeface="Malgun Gothic"/>
              </a:rPr>
              <a:t>시드 구문 보안 인시던트 (2026.03) | 평점: Capterra 4.4/5, BBB F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[Base Pay] SWOT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486400" cy="246888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5486400" cy="54864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984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853"/>
                </a:solidFill>
                <a:latin typeface="Malgun Gothic"/>
              </a:rPr>
              <a:t>Strengths (강점)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업계 유일 온체인 에스크로 (Auth-Capture)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다층 수익 구조 (시퀀서비+USDC+Commerce+x402)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Coinbase 생태계 (6,000만+)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1% 수수료, 서브초 정산, 오픈소스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규제 친화적 (미국 상장사, MSB)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486400" cy="246888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5486400" cy="54864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2984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5252"/>
                </a:solidFill>
                <a:latin typeface="Malgun Gothic"/>
              </a:rPr>
              <a:t>Weaknesses (약점)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64592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법정화폐 직접 정산 미지원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구매자 보호 부재 (차지백 없음)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고객 지원 부재 (BBB F)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글로벌 접근성 제한 (미국/싱가포르만)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환불 UX 미흡, 비업그레이드 리스크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40480"/>
            <a:ext cx="5486400" cy="246888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5486400" cy="54864"/>
          </a:xfrm>
          <a:prstGeom prst="rect">
            <a:avLst/>
          </a:prstGeom>
          <a:solidFill>
            <a:srgbClr val="44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95020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48AFF"/>
                </a:solidFill>
                <a:latin typeface="Malgun Gothic"/>
              </a:rPr>
              <a:t>Opportunities (기회)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29768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AI 에이전트 결제 (x402, 연간화 $600M)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규제 명확화 (GENIUS Act 2027.01)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Shopify 550만 가맹점 미개척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법정화폐+온체인 공백 영역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840480"/>
            <a:ext cx="5486400" cy="246888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840480"/>
            <a:ext cx="5486400" cy="54864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95020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9100"/>
                </a:solidFill>
                <a:latin typeface="Malgun Gothic"/>
              </a:rPr>
              <a:t>Threats (위협)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29768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Stripe Stablecoin Shopify 롤아웃 [높음]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Solana Pay Visa/Mastercard 파트너십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PayPal PYUSD 70개 시장 확장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Commerce 종료 신뢰 훼손 [높음]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[Binance Pay] 서비스 개요 및 핵심 수치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4D4"/>
                </a:solidFill>
                <a:latin typeface="Malgun Gothic"/>
              </a:rPr>
              <a:t>Binance가 2021년 출시한 오프체인 암호화폐 결제 서비스.
P2P 송금(무료) + 가맹점 결제(API/Checkout/Payment Links) + Payout(배치) 통합.
세계 최대 암호화폐 거래소의 결제 인프라로, 3억+ 사용자 기반 활용.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760720" y="1188720"/>
          <a:ext cx="594360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지표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수치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누적 거래량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$280B+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연간 거래량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$121B (2025)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누적 거래 건수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13.6억 건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Pay 수수료 매출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~$110M (2025)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Binance 등록 사용자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3억 명+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가맹점 수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2,000만+ *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P2P 활성 사용자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4,500만 명+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[Binance Pay] 결제 시나리오 (4가지)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394960" cy="228600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5394960" cy="54864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9844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B90B"/>
                </a:solidFill>
                <a:latin typeface="Malgun Gothic"/>
              </a:rPr>
              <a:t>시나리오 A: P2P 개인 간 결제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Pay ID/QR/이메일/전화번호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수수료 0%, 즉시, 300종+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188720"/>
            <a:ext cx="5394960" cy="228600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188720"/>
            <a:ext cx="5394960" cy="54864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29844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B90B"/>
                </a:solidFill>
                <a:latin typeface="Malgun Gothic"/>
              </a:rPr>
              <a:t>시나리오 B: Merchant Hosted Checkout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64592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Create Order V2 API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50종+ 결제, 자동 환전, 즉시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49039"/>
            <a:ext cx="5394960" cy="228600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5394960" cy="54864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85876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B90B"/>
                </a:solidFill>
                <a:latin typeface="Malgun Gothic"/>
              </a:rPr>
              <a:t>시나리오 C: Native API / Payment Links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20624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가맹점 자체 UI QR 또는 딥링크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코딩 불필요 링크 생성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749039"/>
            <a:ext cx="5394960" cy="228600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3749039"/>
            <a:ext cx="5394960" cy="54864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385876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B90B"/>
                </a:solidFill>
                <a:latin typeface="Malgun Gothic"/>
              </a:rPr>
              <a:t>시나리오 D: QR 코드 오프라인 결제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20624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API 주문 생성 -&gt; QR 표시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Binance 앱 스캔 -&gt; 즉시 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5252"/>
                </a:solidFill>
                <a:latin typeface="Malgun Gothic"/>
              </a:rPr>
              <a:t>전제조건: 송수신 양측 Binance 계정 + KYC 인증 필수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[Binance Pay] 수수료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188720"/>
          <a:ext cx="1124712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  <a:gridCol w="484632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수수료 항목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요율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P2P 송금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0%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무료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가맹점 결제 (MDR)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1.0%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고객 결제 금액 기준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Payout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0.80% (최대 $5/건)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2024.12부터 유료 전환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블록체인 가스비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0%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오프체인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FX 스프레드 (숨겨진 비용)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추정 0.1~0.5%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자동 환전 시 내재 마진, 공식 비공개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P2P 분쟁 수수료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4회차부터 부과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처음 3회 무료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5029200"/>
            <a:ext cx="11247120" cy="64008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0749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$10,000 매출 법정화폐 최종 수취 시뮬레이션: 총비용 ~$140~150 (실효 ~1.4~1.5%), 수동 처리 필요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[Binance Pay] 정산 시나리오 -- 오프체인 즉시 정산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2560320" cy="640080"/>
          </a:xfrm>
          <a:prstGeom prst="roundRect">
            <a:avLst/>
          </a:prstGeom>
          <a:solidFill>
            <a:srgbClr val="1C2940"/>
          </a:solidFill>
          <a:ln w="12700">
            <a:solidFill>
              <a:srgbClr val="F0B9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1. 고객 Funding
Wallet 차감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508760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8B9E"/>
                </a:solidFill>
                <a:latin typeface="Malgun Gothi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79" y="1280160"/>
            <a:ext cx="2560320" cy="640080"/>
          </a:xfrm>
          <a:prstGeom prst="roundRect">
            <a:avLst/>
          </a:prstGeom>
          <a:solidFill>
            <a:srgbClr val="1C2940"/>
          </a:solidFill>
          <a:ln w="12700">
            <a:solidFill>
              <a:srgbClr val="F0B9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2. FX Engine
BTC-&gt;USDT 변환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1508760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8B9E"/>
                </a:solidFill>
                <a:latin typeface="Malgun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59" y="1280160"/>
            <a:ext cx="2560320" cy="640080"/>
          </a:xfrm>
          <a:prstGeom prst="roundRect">
            <a:avLst/>
          </a:prstGeom>
          <a:solidFill>
            <a:srgbClr val="1C2940"/>
          </a:solidFill>
          <a:ln w="12700">
            <a:solidFill>
              <a:srgbClr val="F0B9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3. MDR 1%
차감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508760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8B9E"/>
                </a:solidFill>
                <a:latin typeface="Malgun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1280160"/>
            <a:ext cx="2560320" cy="640080"/>
          </a:xfrm>
          <a:prstGeom prst="roundRect">
            <a:avLst/>
          </a:prstGeom>
          <a:solidFill>
            <a:srgbClr val="1C2940"/>
          </a:solidFill>
          <a:ln w="12700">
            <a:solidFill>
              <a:srgbClr val="F0B9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4. 가맹점 Wallet
USDT 즉시 입금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57200" y="3200400"/>
          <a:ext cx="112471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50392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수치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TPS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10,000+ (4노드 클러스터)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트랜잭션 지연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대부분 10ms 이내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페일오버 시간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1초 이내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아키텍처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Raft 합의 + RocksDB + 관계형 DB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5760720"/>
            <a:ext cx="36576" cy="45720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5252"/>
                </a:solidFill>
                <a:latin typeface="Malgun Gothic"/>
              </a:rPr>
              <a:t>법정화폐 전환 한계: 직접 은행 입금 불가 -- 거래소 수동 환전 필요 (추가 0.1% + 출금 수수료)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[Binance Pay] 환불 시나리오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B8C4D4"/>
                </a:solidFill>
                <a:latin typeface="Malgun Gothic"/>
              </a:rPr>
              <a:t>• 전액 환불: Refund Order API, prepayId 기반, MDR도 비례 환불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B8C4D4"/>
                </a:solidFill>
                <a:latin typeface="Malgun Gothic"/>
              </a:rPr>
              <a:t>• 부분 환불: 여러 차례 가능, 누적 &lt;= 원래 금액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B8C4D4"/>
                </a:solidFill>
                <a:latin typeface="Malgun Gothic"/>
              </a:rPr>
              <a:t>• 환불 통화: 정산 통화(USDT)로 환불 (역환전 없음) -- BTC 결제 시 USDT 환불 (가격 상승분 손실)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B8C4D4"/>
                </a:solidFill>
                <a:latin typeface="Malgun Gothic"/>
              </a:rPr>
              <a:t>• 환불 속도: 즉시 (오프체인)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B8C4D4"/>
                </a:solidFill>
                <a:latin typeface="Malgun Gothic"/>
              </a:rPr>
              <a:t>• 분쟁 해결: 차지백 없음, 가맹점 재량, Binance 중개 가능 (강제력 제한)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4114800"/>
          <a:ext cx="112471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41832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에러 코드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설명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400202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ORDER_NOT_FOUND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400607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PAYMENT_REFUND_TOO_MANY_TIMES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400608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PAYMENT_REFUND_AMOUNT_INVALID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400611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PAYMENT_INSUFFICIENT_BALANCE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[Binance Pay] 비즈니스 모델 및 기술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188720"/>
          <a:ext cx="112471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72000"/>
                <a:gridCol w="438912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분류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설명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추정 매출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1차: MDR 1%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Merchant 결제 수수료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~$110M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2차: Payout 0.80%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배치 출금 수수료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미공개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3차: FX 스프레드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자동 환전 시 내재 마진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미공개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4차: 생태계 유입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거래소 거래 수수료 간접 기여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간접적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6576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C4D4"/>
                </a:solidFill>
                <a:latin typeface="Malgun Gothic"/>
              </a:rPr>
              <a:t>Binance 전체 내 비중: $110M / $17.5B = 0.6% -- '독립 수익 사업이 아닌 생태계 전략 도구'
기술: Java/Spring Boot, RocksDB+Raft, Kafka/RabbitMQ, Redis, Docker/K8s
보안: HMAC-SHA512 + 1초 윈도우 + 32자 Nonce, KYC 3단계, AML 이중 레이어
컴플라이언스 누적 투자: $1.2B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[Binance Pay] 사용자 인사이트 -- 강점 &amp; 약점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486400" cy="484632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5486400" cy="54864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853"/>
                </a:solidFill>
                <a:latin typeface="Malgun Gothic"/>
              </a:rPr>
              <a:t>호평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9164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• 즉시 처리, P2P 무료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• 300종+ 지원, QR 편의성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• 앱 내 통합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• 통합 속도, Hosted Checkout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• 자동 환전 정산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486400" cy="484632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5486400" cy="54864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2801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5252"/>
                </a:solidFill>
                <a:latin typeface="Malgun Gothic"/>
              </a:rPr>
              <a:t>불만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69164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• 고객 지원 품질 (10/10)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• 계정 동결/잠금 (9/10)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• Binance 계정 필수 (8/10)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• 규제 지역 차단 (8/10)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• 법정화폐 직접 정산 불가 [매우 높음]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6126480"/>
            <a:ext cx="36576" cy="365760"/>
          </a:xfrm>
          <a:prstGeom prst="rect">
            <a:avLst/>
          </a:prstGeom>
          <a:solidFill>
            <a:srgbClr val="FFD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D740"/>
                </a:solidFill>
                <a:latin typeface="Malgun Gothic"/>
              </a:rPr>
              <a:t>평점: Trustpilot 1.4/5 vs App Store 4.7/5 -- 극단적 괴리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[Binance Pay] SWOT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486400" cy="246888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5486400" cy="54864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984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853"/>
                </a:solidFill>
                <a:latin typeface="Malgun Gothic"/>
              </a:rPr>
              <a:t>Strengths (강점)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3억 사용자, 2,000만 가맹점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오프체인 즉시 정산 + 가스비 0 (10,000+ TPS)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300종+ 암호화폐, P2P 무료, 1% MDR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B2C 98% 스테이블코인, 생태계 시너지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486400" cy="246888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5486400" cy="54864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2984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5252"/>
                </a:solidFill>
                <a:latin typeface="Malgun Gothic"/>
              </a:rPr>
              <a:t>Weaknesses (약점)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64592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법정화폐 직접 정산 불가 (최대 구조적 약점)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70개국+ 미진출 (미국/영국 포함)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Binance 계정 필수 (폐쇄적)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구독 결제 미지원, 고객 지원 1.4/5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40480"/>
            <a:ext cx="5486400" cy="246888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5486400" cy="54864"/>
          </a:xfrm>
          <a:prstGeom prst="rect">
            <a:avLst/>
          </a:prstGeom>
          <a:solidFill>
            <a:srgbClr val="44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95020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48AFF"/>
                </a:solidFill>
                <a:latin typeface="Malgun Gothic"/>
              </a:rPr>
              <a:t>Opportunities (기회)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29768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신흥국 금융 포용 수요 급증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법정화폐 정산 추가 시 독보적 포지션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B2B 국경 간 결제 시장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CBDC 브릿지 역할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840480"/>
            <a:ext cx="5486400" cy="246888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840480"/>
            <a:ext cx="5486400" cy="54864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95020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9100"/>
                </a:solidFill>
                <a:latin typeface="Malgun Gothic"/>
              </a:rPr>
              <a:t>Threats (위협)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29768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PayPal/Stripe 크립토 통합 (4억+)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스테이블코인 규제 강화 (MiCA)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CBDC 출시로 수요 잠식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Coinbase 오픈소스 전략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[Coinbase Commerce] 서비스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4D4"/>
                </a:solidFill>
                <a:latin typeface="Malgun Gothic"/>
              </a:rPr>
              <a:t>가맹점 암호화폐 결제 게이트웨이. 2018년 출시.
스마트 컨트랙트 기반 온체인 프로토콜로 전환 중.
시장점유율 12% (3위).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760720" y="1188720"/>
          <a:ext cx="758952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743200"/>
                <a:gridCol w="320040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시기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제품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특징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2018-2024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Commerce Legacy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전통 API 기반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2024-2025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Commerce Onchain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스마트 컨트랙트 기반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2025.06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Coinbase Payments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Shopify 연동, Base 기반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2025.10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Commerce Payments Protocol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오픈소스 인가-캡처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2026.01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Commerce 업데이트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Coinbase 유저 간 무료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2026 진행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Coinbase Business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법정화폐 인출 강화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029200"/>
            <a:ext cx="36576" cy="45720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5252"/>
                </a:solidFill>
                <a:latin typeface="Malgun Gothic"/>
              </a:rPr>
              <a:t>핵심 변곡점: 2026.03.31 Commerce 종료. 미국/싱가포르만 Business 전환 가능. 기타 국가 강제 이탈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[Coinbase Commerce] 결제 시나리오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486400" cy="411480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5486400" cy="54864"/>
          </a:xfrm>
          <a:prstGeom prst="rect">
            <a:avLst/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984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652F0"/>
                </a:solidFill>
                <a:latin typeface="Malgun Gothic"/>
              </a:rPr>
              <a:t>기본 결제 (Charge)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5212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1. Commerce API (POST /charges) -&gt; Charge 객체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2. hosted_url 접속 -&gt; 토큰/네트워크 선택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3. 온체인 트랜잭션 + DEX USDC 자동 환전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4. 1% 수수료 차감 -&gt; 가맹점 지갑 정산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486400" cy="411480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5486400" cy="54864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2984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853"/>
                </a:solidFill>
                <a:latin typeface="Malgun Gothic"/>
              </a:rPr>
              <a:t>Protocol (Auth-Capture)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645920"/>
            <a:ext cx="5212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1. Authorization: 에스크로에 자금 예치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2. Capture: 상품 준비 후 에스크로 -&gt; 가맹점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3. Void: 캡처 전 전액 반환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4. Reclaim: 인가 만료 후 소비자 직접 회수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577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8B9E"/>
                </a:solidFill>
                <a:latin typeface="Malgun Gothic"/>
              </a:rPr>
              <a:t>지원: BTC, ETH, LTC, BCH, DOGE, USDC, DAI, EURC 등 100+종 | Base (~200ms, ~$0.01), ETH, Polygon | API 10,000 req/hr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[Coinbase Commerce] 수수료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188720"/>
          <a:ext cx="112471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286000"/>
                <a:gridCol w="576072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결제 유형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수수료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Coinbase 유저 -&gt; 가맹점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무료, 즉시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2026.01 업데이트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외부 지갑 -&gt; 가맹점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1% + 가스비(~$0.01)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Base 기준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Shopify USDC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1%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외환 수수료 없음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DEX 스왑 포함 시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~1.3% + 가스비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Uniswap V3 0.3% 추가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84048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B8C4D4"/>
                </a:solidFill>
                <a:latin typeface="Malgun Gothic"/>
              </a:rPr>
              <a:t>• USDC on Base, 암호화폐 보유: ~1% + $0.01 (최소)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B8C4D4"/>
                </a:solidFill>
                <a:latin typeface="Malgun Gothic"/>
              </a:rPr>
              <a:t>• USDC -&gt; USD 환전 -&gt; 은행: ~2-2.5%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B8C4D4"/>
                </a:solidFill>
                <a:latin typeface="Malgun Gothic"/>
              </a:rPr>
              <a:t>• Coinbase 유저 간 USDC on Base: ~$0.01 (무료)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B8C4D4"/>
                </a:solidFill>
                <a:latin typeface="Malgun Gothic"/>
              </a:rPr>
              <a:t>• 참고: Stripe 카드 2.9% + $0.30, PayPal 2.49% + $0.49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[Coinbase Commerce] 정산 시나리오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188720"/>
          <a:ext cx="114300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72000"/>
                <a:gridCol w="457200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Self-Managed (비수탁형)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Coinbase-Managed (수탁형)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커스터디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자체 (12단어 시드 구문)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Coinbase Exchange 연동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정산 통화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암호화폐 전용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암호화폐 + USD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법정화폐 인출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불가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가능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키 관리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가맹점 책임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Coinbase 관리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3840480"/>
          <a:ext cx="112471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58952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조건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속도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Coinbase 유저 결제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즉시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Base 네트워크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~200ms (실사용 ~2초)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Protocol 캡처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캡처 요청 시 즉시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법정화폐 인출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1-3 영업일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[Coinbase Commerce] 환불 시나리오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B8C4D4"/>
                </a:solidFill>
                <a:latin typeface="Malgun Gothic"/>
              </a:rPr>
              <a:t>• Self-Managed: 가맹점 직접 온체인 전송 (API 자동 환불 불가, 대시보드 환불 버튼 없음)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B8C4D4"/>
                </a:solidFill>
                <a:latin typeface="Malgun Gothic"/>
              </a:rPr>
              <a:t>• Coinbase-Managed: Exchange 인터페이스에서 처리 (법정화폐 재환전 필요)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B8C4D4"/>
                </a:solidFill>
                <a:latin typeface="Malgun Gothic"/>
              </a:rPr>
              <a:t>• Protocol: Void(캡처 전) / Refund(refundExpiry 전) / Reclaim(authExpiry 후) / 환불 불가(refundExpiry 후)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B8C4D4"/>
                </a:solidFill>
                <a:latin typeface="Malgun Gothic"/>
              </a:rPr>
              <a:t>• 환불 수수료: 별도 없음, 가스비 가맹점 부담, 기존 1% 수수료 미반환(추정)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B8C4D4"/>
                </a:solidFill>
                <a:latin typeface="Malgun Gothic"/>
              </a:rPr>
              <a:t>• 분쟁: 45 영업일 내 검토, 차지백 없음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5029200"/>
            <a:ext cx="3474720" cy="54864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50292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923"/>
                </a:solidFill>
                <a:latin typeface="Malgun Gothic"/>
              </a:rPr>
              <a:t>환불 자동화: 업계 최하위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[Coinbase Commerce] 비즈니스 모델 및 기술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188720"/>
          <a:ext cx="1124712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50392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설명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핵심 수익원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거래 수수료 1%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2차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USDC 준비금 이자 (Circle 50:50)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3차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환전 스프레드 0.5-2%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간접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생태계 락인 (Commerce -&gt; Exchange/Custody)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전략적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Base 시퀀서 수수료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93192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C4D4"/>
                </a:solidFill>
                <a:latin typeface="Malgun Gothic"/>
              </a:rPr>
              <a:t>전사: 연 매출 $7.181B, USDC 수익 ~$1.35B (19%), 시가총액 ~$46B
Commerce = 직접 수익보다 'USDC 생태계 확장 + 가맹점 락인' 전략적 가치
기술: AWS, EKS/EC2, Kafka, PostgreSQL/MongoDB, Go/Ruby/Python/React
설계 원칙: 원자적 결제, 지갑 비종속, 불변 결제 의도, 신뢰 최소화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[Coinbase Commerce] 사용자 인사이트 -- 강점 &amp; 약점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486400" cy="484632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5486400" cy="54864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5252"/>
                </a:solidFill>
                <a:latin typeface="Malgun Gothic"/>
              </a:rPr>
              <a:t>가맹점 Pain Points (심각도 x 빈도)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9164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• [매우높음x매우높음] 고객 지원 부재/지연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• [높음x높음] 환불 프로세스 복잡/수동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• [높음x매우높음] 플랫폼 전환 불확실성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• [높음x높음] 법정화폐 정산 제한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• [높음x중간] API/플러그인 방치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486400" cy="484632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5486400" cy="54864"/>
          </a:xfrm>
          <a:prstGeom prst="rect">
            <a:avLst/>
          </a:prstGeom>
          <a:solidFill>
            <a:srgbClr val="FFD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2801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40"/>
                </a:solidFill>
                <a:latin typeface="Malgun Gothic"/>
              </a:rPr>
              <a:t>소비자 Pain Points &amp; 평점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69164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• 결제 옵션 축소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• 수수료 불투명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• 결제 보류 시 지원 부재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• G2 4.0/5, Capterra 4.4/5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• Trustpilot 1.3/5 (극단적 괴리)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[Coinbase Commerce] SWOT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486400" cy="246888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5486400" cy="54864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984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853"/>
                </a:solidFill>
                <a:latin typeface="Malgun Gothic"/>
              </a:rPr>
              <a:t>Strengths (강점)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Base L2 소유 (~$0.01, ~200ms)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Commerce Payments Protocol (유일한 오픈소스)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Shopify 독점 파트너십, 1억+ 사용자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USDC 전략적 포지션, 비용 우위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486400" cy="246888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5486400" cy="54864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2984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5252"/>
                </a:solidFill>
                <a:latin typeface="Malgun Gothic"/>
              </a:rPr>
              <a:t>Weaknesses (약점)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64592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환불 자동화 부재 (업계 최하위)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고객 지원 부재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법정화폐 정산 제한 (USD만, Managed만)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플랫폼 불안정 (Commerce 종료)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40480"/>
            <a:ext cx="5486400" cy="246888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5486400" cy="54864"/>
          </a:xfrm>
          <a:prstGeom prst="rect">
            <a:avLst/>
          </a:prstGeom>
          <a:solidFill>
            <a:srgbClr val="44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95020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48AFF"/>
                </a:solidFill>
                <a:latin typeface="Malgun Gothic"/>
              </a:rPr>
              <a:t>Opportunities (기회)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29768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GENIUS Act 수혜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Shopify 미개척 (0.1% 미만)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B2B 국경 간 결제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Coinbase Business 통합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840480"/>
            <a:ext cx="5486400" cy="246888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840480"/>
            <a:ext cx="5486400" cy="54864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95020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9100"/>
                </a:solidFill>
                <a:latin typeface="Malgun Gothic"/>
              </a:rPr>
              <a:t>Threats (위협)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29768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PayPal/Stripe 진입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Circle CPN 장기 위협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BitPay 38개국 정산 우위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규제 리스크 (MiCA)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[Stripe Crypto] 전략 전체상 및 수직 통합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35BFF"/>
                </a:solidFill>
                <a:latin typeface="Malgun Gothic"/>
              </a:rPr>
              <a:t>"가맹점은 크립토를 전혀 모르면서도, 크립토의 저비용/글로벌 장점을 누릴 수 있는 인프라"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8229600" cy="594360"/>
          </a:xfrm>
          <a:prstGeom prst="rect">
            <a:avLst/>
          </a:prstGeom>
          <a:solidFill>
            <a:srgbClr val="3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FFFFFF"/>
                </a:solidFill>
                <a:latin typeface="Malgun Gothic"/>
              </a:rPr>
              <a:t>  발행 (Issuance)  |  Bridge Open Issuance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8229600" cy="594360"/>
          </a:xfrm>
          <a:prstGeom prst="rect">
            <a:avLst/>
          </a:prstGeom>
          <a:solidFill>
            <a:srgbClr val="352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FFFFFF"/>
                </a:solidFill>
                <a:latin typeface="Malgun Gothic"/>
              </a:rPr>
              <a:t>  블록체인 (Infrastructure)  |  Tempo (Stripe + Paradigm)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80360"/>
            <a:ext cx="8229600" cy="594360"/>
          </a:xfrm>
          <a:prstGeom prst="rect">
            <a:avLst/>
          </a:prstGeom>
          <a:solidFill>
            <a:srgbClr val="30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FFFFFF"/>
                </a:solidFill>
                <a:latin typeface="Malgun Gothic"/>
              </a:rPr>
              <a:t>  월렛 (Wallet)  |  Privy (2025.06 인수)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66160"/>
            <a:ext cx="8229600" cy="594360"/>
          </a:xfrm>
          <a:prstGeom prst="rect">
            <a:avLst/>
          </a:prstGeom>
          <a:solidFill>
            <a:srgbClr val="2B2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FFFFFF"/>
                </a:solidFill>
                <a:latin typeface="Malgun Gothic"/>
              </a:rPr>
              <a:t>  결제 (Payment)  |  Stripe 코어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51960"/>
            <a:ext cx="8229600" cy="594360"/>
          </a:xfrm>
          <a:prstGeom prst="rect">
            <a:avLst/>
          </a:prstGeom>
          <a:solidFill>
            <a:srgbClr val="26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FFFFFF"/>
                </a:solidFill>
                <a:latin typeface="Malgun Gothic"/>
              </a:rPr>
              <a:t>  컴플라이언스  |  Bridge OCC 면허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937760"/>
            <a:ext cx="8229600" cy="594360"/>
          </a:xfrm>
          <a:prstGeom prst="rect">
            <a:avLst/>
          </a:prstGeom>
          <a:solidFill>
            <a:srgbClr val="21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FFFFFF"/>
                </a:solidFill>
                <a:latin typeface="Malgun Gothic"/>
              </a:rPr>
              <a:t>  자산 관리 (Reserve)  |  BlackRock, Fidelity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828800"/>
            <a:ext cx="2560320" cy="1828800"/>
          </a:xfrm>
          <a:prstGeom prst="roundRect">
            <a:avLst/>
          </a:prstGeom>
          <a:solidFill>
            <a:srgbClr val="1C2940"/>
          </a:solidFill>
          <a:ln w="25400">
            <a:solidFill>
              <a:srgbClr val="63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192024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구조적 해자
아무도 이 수준의 수직 통합 미보유
Bridge 인수 $1.1B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[Stripe Crypto] 제품 포트폴리오 및 타임라인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188720"/>
          <a:ext cx="1124712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621792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제품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론칭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핵심 기능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Stablecoin Payments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2025.12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스테이블코인 결제, USD 자동 정산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Financial Accounts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2025.05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101개국, 잔고 보유/송수신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Open Issuance (Bridge)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2025.09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자체 스테이블코인 발행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Crypto Onramp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2022.12~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법정화폐 -&gt; 크립토 전환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Pay with Crypto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2026.01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크립토 잔고로 직접 결제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x402 Protocol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2025~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HTTP 402 머신 결제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MPP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2026.03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Tempo 기반 에이전트 결제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Tempo 블록체인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2026.03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결제 전용 L1, 100K+ TPS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914400" y="5486400"/>
            <a:ext cx="10058400" cy="18288"/>
          </a:xfrm>
          <a:prstGeom prst="rect">
            <a:avLst/>
          </a:prstGeom>
          <a:solidFill>
            <a:srgbClr val="7A8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5394960"/>
            <a:ext cx="164592" cy="164592"/>
          </a:xfrm>
          <a:prstGeom prst="ellipse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56235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7A8B9E"/>
                </a:solidFill>
                <a:latin typeface="Malgun Gothic"/>
              </a:rPr>
              <a:t>2024.10
Bridge 인수</a:t>
            </a:r>
          </a:p>
        </p:txBody>
      </p:sp>
      <p:sp>
        <p:nvSpPr>
          <p:cNvPr id="12" name="Oval 11"/>
          <p:cNvSpPr/>
          <p:nvPr/>
        </p:nvSpPr>
        <p:spPr>
          <a:xfrm>
            <a:off x="2926080" y="5394960"/>
            <a:ext cx="164592" cy="164592"/>
          </a:xfrm>
          <a:prstGeom prst="ellipse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56235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7A8B9E"/>
                </a:solidFill>
                <a:latin typeface="Malgun Gothic"/>
              </a:rPr>
              <a:t>2025.05
Fin.Accounts</a:t>
            </a:r>
          </a:p>
        </p:txBody>
      </p:sp>
      <p:sp>
        <p:nvSpPr>
          <p:cNvPr id="14" name="Oval 13"/>
          <p:cNvSpPr/>
          <p:nvPr/>
        </p:nvSpPr>
        <p:spPr>
          <a:xfrm>
            <a:off x="4937760" y="5394960"/>
            <a:ext cx="164592" cy="164592"/>
          </a:xfrm>
          <a:prstGeom prst="ellipse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56235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7A8B9E"/>
                </a:solidFill>
                <a:latin typeface="Malgun Gothic"/>
              </a:rPr>
              <a:t>2025.09
Issuance</a:t>
            </a:r>
          </a:p>
        </p:txBody>
      </p:sp>
      <p:sp>
        <p:nvSpPr>
          <p:cNvPr id="16" name="Oval 15"/>
          <p:cNvSpPr/>
          <p:nvPr/>
        </p:nvSpPr>
        <p:spPr>
          <a:xfrm>
            <a:off x="6949440" y="5394960"/>
            <a:ext cx="164592" cy="164592"/>
          </a:xfrm>
          <a:prstGeom prst="ellipse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56235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7A8B9E"/>
                </a:solidFill>
                <a:latin typeface="Malgun Gothic"/>
              </a:rPr>
              <a:t>2025.12
Payments</a:t>
            </a:r>
          </a:p>
        </p:txBody>
      </p:sp>
      <p:sp>
        <p:nvSpPr>
          <p:cNvPr id="18" name="Oval 17"/>
          <p:cNvSpPr/>
          <p:nvPr/>
        </p:nvSpPr>
        <p:spPr>
          <a:xfrm>
            <a:off x="8961120" y="5394960"/>
            <a:ext cx="164592" cy="164592"/>
          </a:xfrm>
          <a:prstGeom prst="ellipse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56235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7A8B9E"/>
                </a:solidFill>
                <a:latin typeface="Malgun Gothic"/>
              </a:rPr>
              <a:t>2026.01
Pay w/Crypto</a:t>
            </a:r>
          </a:p>
        </p:txBody>
      </p:sp>
      <p:sp>
        <p:nvSpPr>
          <p:cNvPr id="20" name="Oval 19"/>
          <p:cNvSpPr/>
          <p:nvPr/>
        </p:nvSpPr>
        <p:spPr>
          <a:xfrm>
            <a:off x="10972800" y="5394960"/>
            <a:ext cx="164592" cy="164592"/>
          </a:xfrm>
          <a:prstGeom prst="ellipse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0" y="56235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7A8B9E"/>
                </a:solidFill>
                <a:latin typeface="Malgun Gothic"/>
              </a:rPr>
              <a:t>2026.03
Tempo+MPP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[Stripe Crypto] Stablecoin Payments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2011680" cy="640080"/>
          </a:xfrm>
          <a:prstGeom prst="roundRect">
            <a:avLst/>
          </a:prstGeom>
          <a:solidFill>
            <a:srgbClr val="1C2940"/>
          </a:solidFill>
          <a:ln w="12700">
            <a:solidFill>
              <a:srgbClr val="63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1. POST /v1/
payment_intents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508760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8B9E"/>
                </a:solidFill>
                <a:latin typeface="Malgun Gothi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40" y="1280160"/>
            <a:ext cx="2011680" cy="640080"/>
          </a:xfrm>
          <a:prstGeom prst="roundRect">
            <a:avLst/>
          </a:prstGeom>
          <a:solidFill>
            <a:srgbClr val="1C2940"/>
          </a:solidFill>
          <a:ln w="12700">
            <a:solidFill>
              <a:srgbClr val="63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2. confirmPayment()
리디렉션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508760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8B9E"/>
                </a:solidFill>
                <a:latin typeface="Malgun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280160"/>
            <a:ext cx="2011680" cy="640080"/>
          </a:xfrm>
          <a:prstGeom prst="roundRect">
            <a:avLst/>
          </a:prstGeom>
          <a:solidFill>
            <a:srgbClr val="1C2940"/>
          </a:solidFill>
          <a:ln w="12700">
            <a:solidFill>
              <a:srgbClr val="63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3. 월렛 연결
토큰/체인 선택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508760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8B9E"/>
                </a:solidFill>
                <a:latin typeface="Malgun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1280160"/>
            <a:ext cx="2011680" cy="640080"/>
          </a:xfrm>
          <a:prstGeom prst="roundRect">
            <a:avLst/>
          </a:prstGeom>
          <a:solidFill>
            <a:srgbClr val="1C2940"/>
          </a:solidFill>
          <a:ln w="12700">
            <a:solidFill>
              <a:srgbClr val="63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4. 온체인 제출
블록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1508760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8B9E"/>
                </a:solidFill>
                <a:latin typeface="Malgun Gothic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280160"/>
            <a:ext cx="2011680" cy="640080"/>
          </a:xfrm>
          <a:prstGeom prst="roundRect">
            <a:avLst/>
          </a:prstGeom>
          <a:solidFill>
            <a:srgbClr val="1C2940"/>
          </a:solidFill>
          <a:ln w="12700">
            <a:solidFill>
              <a:srgbClr val="63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5. succeeded
웹훅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200400"/>
          <a:ext cx="1124712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50392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상세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지원 스테이블코인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USDC(ETH/SOL/Polygon/Base), USDP, USDG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지원 월렛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400개 이상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수수료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1.5% (가스비 포함)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가맹점 요건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미국 비즈니스만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구독 결제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스마트 컨트랙트 기반 -- 업계 최초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[Stripe Crypto] Pay with Crypto &amp; Crypto Onramp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486400" cy="484632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5486400" cy="54864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984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35BFF"/>
                </a:solidFill>
                <a:latin typeface="Malgun Gothic"/>
              </a:rPr>
              <a:t>Pay with Crypto (Crypto.com 연동)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Crypto.com 앱 내 크립토 잔고로 Stripe 가맹점 결제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법정화폐 자동 전환, 사전 환전 불필요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차지백 없음 (가맹점 유리)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미국 우선, 글로벌 확대 예정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486400" cy="484632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5486400" cy="54864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2984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6C6DA"/>
                </a:solidFill>
                <a:latin typeface="Malgun Gothic"/>
              </a:rPr>
              <a:t>Crypto Onramp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64592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법정화폐 -&gt; 크립토 전환 (Onramp만)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임베디드 위젯 또는 Stripe-hosted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USDC(5개 체인), ETH, MATIC, AVAX, XLM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수수료: ~5%(카드), ~1.5%(ACH)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내장 KYC + Stripe Radar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미국(하와이 제외) 및 EU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[Stripe Crypto] x402 &amp; MPP -- AI 에이전트 결제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486400" cy="228600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5486400" cy="54864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984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52FF"/>
                </a:solidFill>
                <a:latin typeface="Malgun Gothic"/>
              </a:rPr>
              <a:t>x402 (Coinbase 개발)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HTTP 402 기반, USDC on Base, 건별 즉시 정산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최근 30일: 7,500만+ 트랜잭션, 2,400만+ 달러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486400" cy="228600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5486400" cy="54864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2984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35BFF"/>
                </a:solidFill>
                <a:latin typeface="Malgun Gothic"/>
              </a:rPr>
              <a:t>MPP (Stripe/Tempo, 2026.03)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64592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Tempo 기반, 멀티 결제수단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SPTs -- 에이전트 간 결제 권한 위임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배치 정산, 서브-100ms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7200" y="3749039"/>
          <a:ext cx="1143000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72000"/>
                <a:gridCol w="457200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x402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MPP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인프라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Base L2 (Coinbase)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Tempo L1 (Stripe/Paradigm)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결제 수단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USDC만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멀티 (스테이블코인+카드+BTC)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정산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건별 즉시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배치 정산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지연시간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~2초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서브-100ms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유스케이스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단건 API 호출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대량 마이크로페이먼트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[Stripe Crypto] 정산 시나리오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45920"/>
            <a:ext cx="2560320" cy="731520"/>
          </a:xfrm>
          <a:prstGeom prst="roundRect">
            <a:avLst/>
          </a:prstGeom>
          <a:solidFill>
            <a:srgbClr val="1C2940"/>
          </a:solidFill>
          <a:ln w="12700">
            <a:solidFill>
              <a:srgbClr val="63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1. 온체인 수취
(0.4~12초)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920240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8B9E"/>
                </a:solidFill>
                <a:latin typeface="Malgun Gothi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79" y="1645920"/>
            <a:ext cx="2560320" cy="731520"/>
          </a:xfrm>
          <a:prstGeom prst="roundRect">
            <a:avLst/>
          </a:prstGeom>
          <a:solidFill>
            <a:srgbClr val="1C2940"/>
          </a:solidFill>
          <a:ln w="12700">
            <a:solidFill>
              <a:srgbClr val="63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2. Bridge
오케스트레이션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1920240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8B9E"/>
                </a:solidFill>
                <a:latin typeface="Malgun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59" y="1645920"/>
            <a:ext cx="2560320" cy="731520"/>
          </a:xfrm>
          <a:prstGeom prst="roundRect">
            <a:avLst/>
          </a:prstGeom>
          <a:solidFill>
            <a:srgbClr val="1C2940"/>
          </a:solidFill>
          <a:ln w="12700">
            <a:solidFill>
              <a:srgbClr val="63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3. Stripe 잔고 반영
(카드와 통합)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920240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8B9E"/>
                </a:solidFill>
                <a:latin typeface="Malgun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1645920"/>
            <a:ext cx="2560320" cy="731520"/>
          </a:xfrm>
          <a:prstGeom prst="roundRect">
            <a:avLst/>
          </a:prstGeom>
          <a:solidFill>
            <a:srgbClr val="1C2940"/>
          </a:solidFill>
          <a:ln w="12700">
            <a:solidFill>
              <a:srgbClr val="63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4. 은행 출금
(T+2 영업일)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1752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B8C4D4"/>
                </a:solidFill>
                <a:latin typeface="Malgun Gothic"/>
              </a:rPr>
              <a:t>• USDC -&gt; USD 자동 정산 (full shielding): 가맹점은 크립토를 전혀 보유/관리하지 않음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B8C4D4"/>
                </a:solidFill>
                <a:latin typeface="Malgun Gothic"/>
              </a:rPr>
              <a:t>• USDC 직접 수취: Stablecoin Financial Accounts (101개국, 다중 통화, 가상/실물 카드)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B8C4D4"/>
                </a:solidFill>
                <a:latin typeface="Malgun Gothic"/>
              </a:rPr>
              <a:t>• 정산 수수료 1.5%에 포함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5029200"/>
            <a:ext cx="36576" cy="457200"/>
          </a:xfrm>
          <a:prstGeom prst="rect">
            <a:avLst/>
          </a:prstGeom>
          <a:solidFill>
            <a:srgbClr val="FFD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740"/>
                </a:solidFill>
                <a:latin typeface="Malgun Gothic"/>
              </a:rPr>
              <a:t>사용자 반응: '온체인 즉시 확정인데 정산 T+2, 스테이블코인 장점 상쇄'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[Stripe Crypto] 수수료 구조 종합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188720"/>
          <a:ext cx="1124712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  <a:gridCol w="484632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제품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수수료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Stablecoin Payments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1.5%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USD 정산 포함, 가스비 포함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Crypto Onramp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~5%(카드), ~1.5%(ACH)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결제 수단별 변동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Pay with Crypto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미공개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표준 Stripe 수수료 추정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x402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미공개 (프리뷰)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프로토콜 제로, Stripe 정산 별도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MPP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거의 제로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배치 정산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114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algun Gothic"/>
              </a:rPr>
              <a:t>$10,000 월간 거래량 총비용 비교: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4480560"/>
            <a:ext cx="3429000" cy="274320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4805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4"/>
                </a:solidFill>
                <a:latin typeface="Malgun Gothic"/>
              </a:rPr>
              <a:t>Stripe Stablecoin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4480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algun Gothic"/>
              </a:rPr>
              <a:t>$150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4828032"/>
            <a:ext cx="7315200" cy="274320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8280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4"/>
                </a:solidFill>
                <a:latin typeface="Malgun Gothic"/>
              </a:rPr>
              <a:t>Stripe 카드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48280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algun Gothic"/>
              </a:rPr>
              <a:t>$320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5175504"/>
            <a:ext cx="2286000" cy="274320"/>
          </a:xfrm>
          <a:prstGeom prst="rect">
            <a:avLst/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17550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4"/>
                </a:solidFill>
                <a:latin typeface="Malgun Gothic"/>
              </a:rPr>
              <a:t>Coinbase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51755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algun Gothic"/>
              </a:rPr>
              <a:t>~$100+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5522976"/>
            <a:ext cx="2857500" cy="274320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52297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4"/>
                </a:solidFill>
                <a:latin typeface="Malgun Gothic"/>
              </a:rPr>
              <a:t>BitPay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9340" y="552297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algun Gothic"/>
              </a:rPr>
              <a:t>~$125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5870448"/>
            <a:ext cx="4114800" cy="274320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8704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4"/>
                </a:solidFill>
                <a:latin typeface="Malgun Gothic"/>
              </a:rPr>
              <a:t>Binance Pay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58704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algun Gothic"/>
              </a:rPr>
              <a:t>~$180+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[Stripe Crypto] 환불 시나리오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2560320" cy="640080"/>
          </a:xfrm>
          <a:prstGeom prst="roundRect">
            <a:avLst/>
          </a:prstGeom>
          <a:solidFill>
            <a:srgbClr val="1C2940"/>
          </a:solidFill>
          <a:ln w="12700">
            <a:solidFill>
              <a:srgbClr val="63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1. 가맹점 API
POST /v1/refunds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508760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8B9E"/>
                </a:solidFill>
                <a:latin typeface="Malgun Gothi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79" y="1280160"/>
            <a:ext cx="2560320" cy="640080"/>
          </a:xfrm>
          <a:prstGeom prst="roundRect">
            <a:avLst/>
          </a:prstGeom>
          <a:solidFill>
            <a:srgbClr val="1C2940"/>
          </a:solidFill>
          <a:ln w="12700">
            <a:solidFill>
              <a:srgbClr val="63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2. Stripe 가맹점
잔고(USD) 차감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1508760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8B9E"/>
                </a:solidFill>
                <a:latin typeface="Malgun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59" y="1280160"/>
            <a:ext cx="2560320" cy="640080"/>
          </a:xfrm>
          <a:prstGeom prst="roundRect">
            <a:avLst/>
          </a:prstGeom>
          <a:solidFill>
            <a:srgbClr val="1C2940"/>
          </a:solidFill>
          <a:ln w="12700">
            <a:solidFill>
              <a:srgbClr val="63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3. USD -&gt; 원래
스테이블코인 전환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508760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8B9E"/>
                </a:solidFill>
                <a:latin typeface="Malgun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1280160"/>
            <a:ext cx="2560320" cy="640080"/>
          </a:xfrm>
          <a:prstGeom prst="roundRect">
            <a:avLst/>
          </a:prstGeom>
          <a:solidFill>
            <a:srgbClr val="1C2940"/>
          </a:solidFill>
          <a:ln w="12700">
            <a:solidFill>
              <a:srgbClr val="63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4. 고객 원래 월렛
온체인 전송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57200" y="3200400"/>
          <a:ext cx="1124712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50392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상세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분쟁/차지백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미지원 (Stripe Disputes 크립토 미적용)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잘못된 주소 송금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복구 불가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업계 전체 한계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모든 크립토 결제 서비스가 전통적 차지백 미지원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457200" y="5303520"/>
            <a:ext cx="11247120" cy="640080"/>
          </a:xfrm>
          <a:prstGeom prst="roundRect">
            <a:avLst/>
          </a:prstGeom>
          <a:solidFill>
            <a:srgbClr val="1C2940"/>
          </a:solidFill>
          <a:ln w="254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3492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48AFF"/>
                </a:solidFill>
                <a:latin typeface="Malgun Gothic"/>
              </a:rPr>
              <a:t>경쟁 공백: 스마트 컨트랙트 에스크로 + 분쟁 중재를 최초 구현하는 플레이어가 표준 선점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[Stripe Crypto] Tempo 블록체인 핵심 사양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188720"/>
          <a:ext cx="112471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50392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상세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유형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결제 전용 L1, EVM 호환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실행 엔진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Reth (Paradigm, Rust 기반)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합의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Simplex BFT (Commonware)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TPS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100,000+ (목표 1M)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최종 확정성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~0.6초, 결정론적 (리오그 없음)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가스비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스테이블코인으로 납부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네이티브 토큰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없음 (규제 리스크 회피)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검증자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Stripe, Visa, Zodia (허가형)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프라이버시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옵트인 (트랜잭션 은닉 가능)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3035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8B9E"/>
                </a:solidFill>
                <a:latin typeface="Malgun Gothic"/>
              </a:rPr>
              <a:t>파트너: Visa(검증자+카드 100개국+), Zodia(기관 커스터디), Paradigm(공동 인큐베이터)
커뮤니티: '아무도 새 체인 불필요' 중앙화 우려 vs '실제 결제 트래픽 확보'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[Stripe Crypto] 비즈니스 모델 및 파트너십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188720"/>
          <a:ext cx="1124712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029200"/>
                <a:gridCol w="393192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유형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해당 제품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신뢰도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트랜잭션 1.5%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Stablecoin Payments, x402, Pay w/Crypto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확인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전환 ~5%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Crypto Onramp, Financial Accounts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확인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인프라 이용료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Open Issuance, Bridge API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추정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준비금 이자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USDB (BlackRock 등)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추정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네트워크 수수료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Tempo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추정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생태계 교차 판매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Radar, Billing, Connect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확인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FX 스프레드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스테이블코인-법정화폐 전환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추정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2976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4D4"/>
                </a:solidFill>
                <a:latin typeface="Malgun Gothic"/>
              </a:rPr>
              <a:t>핵심 파트너십: Visa, Zodia, Crypto.com, BlackRock/Fidelity, Circle, Coinbase, Cloudflare/Google, Paradigm, Payoneer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[Stripe Crypto] 사용자 인사이트 -- 강점 &amp; 약점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486400" cy="484632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5486400" cy="54864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853"/>
                </a:solidFill>
                <a:latin typeface="Malgun Gothic"/>
              </a:rPr>
              <a:t>긍정 (가맹점 55%, 소비자 40%)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9164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• "crypto 파라미터 추가만으로 수취"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• Shadeform: 국제 카드 4.5%-&gt;1.5% (66% 절감)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• 10만+ 가맹점 온보딩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• 카드 대비 12% 높은 전환율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• 400+ 월렛, QR 간편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486400" cy="484632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5486400" cy="54864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2801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5252"/>
                </a:solidFill>
                <a:latin typeface="Malgun Gothic"/>
              </a:rPr>
              <a:t>부정 (가맹점 20%, 소비자 25%)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69164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• 미국 전용 (가장 빈번)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• 1.5% 수수료 논쟁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• T+2 정산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• USD 단일 정산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B8C4D4"/>
                </a:solidFill>
                <a:latin typeface="Malgun Gothic"/>
              </a:rPr>
              <a:t>• Tempo 반발 강함 (크립토 커뮤니티)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8B9E"/>
                </a:solidFill>
                <a:latin typeface="Malgun Gothic"/>
              </a:rPr>
              <a:t>개선 요청 Top 5: 1)글로벌 확대 2)수수료 인하 3)코인 확대 4)다통화 정산 5)T+0 정산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[Stripe Crypto] SWOT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486400" cy="246888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5486400" cy="54864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984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853"/>
                </a:solidFill>
                <a:latin typeface="Malgun Gothic"/>
              </a:rPr>
              <a:t>Strengths (강점)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기존 가맹점 네트워크 락인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법정화폐 완전 차폐 (zero-crypto)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수직 통합 (Bridge+Tempo+Privy)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에이전트 결제 3중 전략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구독 결제 스마트 컨트랙트 (업계 최초)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486400" cy="246888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5486400" cy="54864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2984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5252"/>
                </a:solidFill>
                <a:latin typeface="Malgun Gothic"/>
              </a:rPr>
              <a:t>Weaknesses (약점)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64592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미국 전용 수취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1.5% 프리미엄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T+2 정산, 분쟁 미지원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스테이블코인 위주, USD 단일 정산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40480"/>
            <a:ext cx="5486400" cy="246888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5486400" cy="54864"/>
          </a:xfrm>
          <a:prstGeom prst="rect">
            <a:avLst/>
          </a:prstGeom>
          <a:solidFill>
            <a:srgbClr val="44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95020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48AFF"/>
                </a:solidFill>
                <a:latin typeface="Malgun Gothic"/>
              </a:rPr>
              <a:t>Opportunities (기회)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29768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글로벌 확장 (101개국 기반)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AI 에이전트 결제 선점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Tempo T+0 정산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B2B 크로스보더 ($4,000억)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840480"/>
            <a:ext cx="5486400" cy="246888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840480"/>
            <a:ext cx="5486400" cy="54864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95020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9100"/>
                </a:solidFill>
                <a:latin typeface="Malgun Gothic"/>
              </a:rPr>
              <a:t>Threats (위협)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29768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수수료 경쟁 (Coinbase 1%, Solana ~0%)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Tempo 중앙화 반발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x402 채택 부진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0">
                <a:solidFill>
                  <a:srgbClr val="B8C4D4"/>
                </a:solidFill>
                <a:latin typeface="Malgun Gothic"/>
              </a:rPr>
              <a:t>PayPal 4.3억 계정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수수료 비교 종합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188720"/>
          <a:ext cx="1124712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286000"/>
                <a:gridCol w="2286000"/>
                <a:gridCol w="2286000"/>
                <a:gridCol w="228600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Base Pay</a:t>
                      </a:r>
                    </a:p>
                  </a:txBody>
                  <a:tcPr anchor="ctr" marT="36576" marB="36576" marL="73152" marR="73152">
                    <a:solidFill>
                      <a:srgbClr val="1A2E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Binance Pay</a:t>
                      </a:r>
                    </a:p>
                  </a:txBody>
                  <a:tcPr anchor="ctr" marT="36576" marB="36576" marL="73152" marR="73152">
                    <a:solidFill>
                      <a:srgbClr val="3D35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Coinbase Commerce</a:t>
                      </a:r>
                    </a:p>
                  </a:txBody>
                  <a:tcPr anchor="ctr" marT="36576" marB="36576" marL="73152" marR="73152">
                    <a:solidFill>
                      <a:srgbClr val="1E2B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Stripe Crypto</a:t>
                      </a:r>
                    </a:p>
                  </a:txBody>
                  <a:tcPr anchor="ctr" marT="36576" marB="36576" marL="73152" marR="73152">
                    <a:solidFill>
                      <a:srgbClr val="2A265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결제 수수료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1%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1%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1% (외부), 0% (CB유저)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1.5%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네트워크 가스비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~$0.01 (구매자)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0% (오프체인)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~$0.01 (Base)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포함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DEX 스왑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변동 (구매자)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FX 0.1~0.5%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~0.3%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포함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Payout 수수료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N/A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0.80%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N/A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N/A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법정화폐 전환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+1-5 영업일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수동(0.1%+출금비)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~1-1.5%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포함 (0%)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$10K 법정화폐 총비용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~$100+ (변동)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~$140~150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~$100+ (변동)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$150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실효 수수료율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~1%/~2%+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~1.4~1.5%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~1%/~2-2.5%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1.5% (all-in)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263640"/>
            <a:ext cx="11094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B9E"/>
                </a:solidFill>
                <a:latin typeface="Malgun Gothic"/>
              </a:rPr>
              <a:t>추가: BitPay 1%+$0.25, PayPal 0.99%/1.5%, NOWPayments 0.5%, Solana Pay ~0%, BTCPay 0%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정산 비교 종합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188720"/>
          <a:ext cx="1124712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286000"/>
                <a:gridCol w="2286000"/>
                <a:gridCol w="2286000"/>
                <a:gridCol w="228600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Base Pay</a:t>
                      </a:r>
                    </a:p>
                  </a:txBody>
                  <a:tcPr anchor="ctr" marT="36576" marB="36576" marL="73152" marR="73152">
                    <a:solidFill>
                      <a:srgbClr val="1A2E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Binance Pay</a:t>
                      </a:r>
                    </a:p>
                  </a:txBody>
                  <a:tcPr anchor="ctr" marT="36576" marB="36576" marL="73152" marR="73152">
                    <a:solidFill>
                      <a:srgbClr val="3D35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Coinbase Commerce</a:t>
                      </a:r>
                    </a:p>
                  </a:txBody>
                  <a:tcPr anchor="ctr" marT="36576" marB="36576" marL="73152" marR="73152">
                    <a:solidFill>
                      <a:srgbClr val="1E2B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Stripe Crypto</a:t>
                      </a:r>
                    </a:p>
                  </a:txBody>
                  <a:tcPr anchor="ctr" marT="36576" marB="36576" marL="73152" marR="73152">
                    <a:solidFill>
                      <a:srgbClr val="2A265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정산 속도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~2초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즉시 (10ms)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~200ms (Base)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0.4~12초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법정화폐 정산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간접 (CB 경유)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불가 (수동)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간접 (Managed, USD)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직접 (자동 USD)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법정화폐 출금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+1-5 영업일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수동 처리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+1-3 영업일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T+2 영업일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정산 통화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USDC, ETH, 기타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USDT 기본 (50종+)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USDC, ETH, USD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USD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에스크로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온체인 지원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미지원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온체인 지원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오프체인 지원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부분 캡처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지원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미지원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지원 (Protocol)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지원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가맹점 크립토 노출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있음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있음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있음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없음 (완전 차폐)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환불 비교 종합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188720"/>
          <a:ext cx="1124712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286000"/>
                <a:gridCol w="2286000"/>
                <a:gridCol w="2286000"/>
                <a:gridCol w="228600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Base Pay</a:t>
                      </a:r>
                    </a:p>
                  </a:txBody>
                  <a:tcPr anchor="ctr" marT="36576" marB="36576" marL="73152" marR="73152">
                    <a:solidFill>
                      <a:srgbClr val="1A2E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Binance Pay</a:t>
                      </a:r>
                    </a:p>
                  </a:txBody>
                  <a:tcPr anchor="ctr" marT="36576" marB="36576" marL="73152" marR="73152">
                    <a:solidFill>
                      <a:srgbClr val="3D35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Coinbase Commerce</a:t>
                      </a:r>
                    </a:p>
                  </a:txBody>
                  <a:tcPr anchor="ctr" marT="36576" marB="36576" marL="73152" marR="73152">
                    <a:solidFill>
                      <a:srgbClr val="1E2B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Stripe Crypto</a:t>
                      </a:r>
                    </a:p>
                  </a:txBody>
                  <a:tcPr anchor="ctr" marT="36576" marB="36576" marL="73152" marR="73152">
                    <a:solidFill>
                      <a:srgbClr val="2A265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자동 환불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지원 (2세대)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API + 대시보드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제한적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API + 대시보드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부분 환불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지원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지원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지원 (Protocol)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지원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Void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지원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미지원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지원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N/A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Reclaim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지원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미지원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지원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미지원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환불 통화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원래 결제 토큰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정산 통화(USDT)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USDC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원래 스테이블코인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차지백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없음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없음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없음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없음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구매자 보호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없음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없음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에스크로 부분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없음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환불 UX 수준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중 (개선 중)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중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하 (업계 최하위)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상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기능 매트릭스 종합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188720"/>
          <a:ext cx="11247120" cy="3822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377440"/>
                <a:gridCol w="2377440"/>
                <a:gridCol w="2377440"/>
                <a:gridCol w="228600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기능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Base Pay</a:t>
                      </a:r>
                    </a:p>
                  </a:txBody>
                  <a:tcPr anchor="ctr" marT="36576" marB="36576" marL="73152" marR="73152">
                    <a:solidFill>
                      <a:srgbClr val="1A2E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Binance Pay</a:t>
                      </a:r>
                    </a:p>
                  </a:txBody>
                  <a:tcPr anchor="ctr" marT="36576" marB="36576" marL="73152" marR="73152">
                    <a:solidFill>
                      <a:srgbClr val="3D35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Coinbase Commerce</a:t>
                      </a:r>
                    </a:p>
                  </a:txBody>
                  <a:tcPr anchor="ctr" marT="36576" marB="36576" marL="73152" marR="73152">
                    <a:solidFill>
                      <a:srgbClr val="1E2B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Stripe Crypto</a:t>
                      </a:r>
                    </a:p>
                  </a:txBody>
                  <a:tcPr anchor="ctr" marT="36576" marB="36576" marL="73152" marR="73152">
                    <a:solidFill>
                      <a:srgbClr val="2A265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지원 코인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Uniswap V3 전체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50종+/300종+(P2P)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100+종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스테이블코인 3종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P2P 송금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별도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무료, 즉시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별도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미지원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구독 결제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SpendPermission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미지원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지원 (온체인)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스마트 컨트랙트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오프라인 결제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Flexa 통합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QR (오프라인)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제한적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미지원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오픈소스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프로토콜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아니오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프로토콜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아니오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Shopify 통합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네이티브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제한적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네이티브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기본 내장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AI 에이전트 결제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x402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미지원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미지원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x402+MPP+ACP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커스터디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비수탁+수탁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수탁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비수탁+수탁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수탁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통합 난이도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중간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낮음~높음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중간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매우 낮음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개발자 SDK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JS 중심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iOS/Android만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오픈소스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Stripe SDK 전체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경쟁력 스코어카드 (10점 만점)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188720"/>
          <a:ext cx="10972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평가 항목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Base Pay</a:t>
                      </a:r>
                    </a:p>
                  </a:txBody>
                  <a:tcPr anchor="ctr" marT="36576" marB="36576" marL="73152" marR="73152">
                    <a:solidFill>
                      <a:srgbClr val="1A2E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Binance Pay</a:t>
                      </a:r>
                    </a:p>
                  </a:txBody>
                  <a:tcPr anchor="ctr" marT="36576" marB="36576" marL="73152" marR="73152">
                    <a:solidFill>
                      <a:srgbClr val="3D35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Coinbase</a:t>
                      </a:r>
                    </a:p>
                  </a:txBody>
                  <a:tcPr anchor="ctr" marT="36576" marB="36576" marL="73152" marR="73152">
                    <a:solidFill>
                      <a:srgbClr val="1E2B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Stripe</a:t>
                      </a:r>
                    </a:p>
                  </a:txBody>
                  <a:tcPr anchor="ctr" marT="36576" marB="36576" marL="73152" marR="73152">
                    <a:solidFill>
                      <a:srgbClr val="2A26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PayPal</a:t>
                      </a:r>
                    </a:p>
                  </a:txBody>
                  <a:tcPr anchor="ctr" marT="36576" marB="36576" marL="73152" marR="73152">
                    <a:solidFill>
                      <a:srgbClr val="1A3050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수수료 경쟁력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7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7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7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6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7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정산 속도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9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10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10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7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법정화폐 정산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2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5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10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10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환불/분쟁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7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6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5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7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10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지원 암호화폐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10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2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통합 용이성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6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6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7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10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10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사용자 기반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7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10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7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10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규제 안정성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5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10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10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종합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7.0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7.0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7.3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7.5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9.1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비즈니스 모델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188720"/>
          <a:ext cx="112471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286000"/>
                <a:gridCol w="2286000"/>
                <a:gridCol w="2286000"/>
                <a:gridCol w="228600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Base Pay</a:t>
                      </a:r>
                    </a:p>
                  </a:txBody>
                  <a:tcPr anchor="ctr" marT="36576" marB="36576" marL="73152" marR="73152">
                    <a:solidFill>
                      <a:srgbClr val="1A2E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Binance Pay</a:t>
                      </a:r>
                    </a:p>
                  </a:txBody>
                  <a:tcPr anchor="ctr" marT="36576" marB="36576" marL="73152" marR="73152">
                    <a:solidFill>
                      <a:srgbClr val="3D35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Coinbase Commerce</a:t>
                      </a:r>
                    </a:p>
                  </a:txBody>
                  <a:tcPr anchor="ctr" marT="36576" marB="36576" marL="73152" marR="73152">
                    <a:solidFill>
                      <a:srgbClr val="1E2B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Stripe Crypto</a:t>
                      </a:r>
                    </a:p>
                  </a:txBody>
                  <a:tcPr anchor="ctr" marT="36576" marB="36576" marL="73152" marR="73152">
                    <a:solidFill>
                      <a:srgbClr val="2A265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핵심 수익원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시퀀서비+USDC+1%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MDR 1% ~$110M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거래 수수료 1%+USDC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트랜잭션 1.5%+전환 ~5%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전체 내 비중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생태계 인프라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0.6% (전략 도구)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소규모 (생태계 락인)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크립토는 확장 중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전략적 역할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Base 트래픽+USDC 유통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사용자 활성화+자금 체류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USDC 생태계+가맹점 락인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기존 가맹점 전환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오픈소스 전략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Apache 2.0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폐쇄적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프로토콜 오픈소스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폐쇄적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기술 아키텍처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188720"/>
          <a:ext cx="1124712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286000"/>
                <a:gridCol w="2286000"/>
                <a:gridCol w="2286000"/>
                <a:gridCol w="228600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Base Pay</a:t>
                      </a:r>
                    </a:p>
                  </a:txBody>
                  <a:tcPr anchor="ctr" marT="36576" marB="36576" marL="73152" marR="73152">
                    <a:solidFill>
                      <a:srgbClr val="1A2E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Binance Pay</a:t>
                      </a:r>
                    </a:p>
                  </a:txBody>
                  <a:tcPr anchor="ctr" marT="36576" marB="36576" marL="73152" marR="73152">
                    <a:solidFill>
                      <a:srgbClr val="3D35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Coinbase Commerce</a:t>
                      </a:r>
                    </a:p>
                  </a:txBody>
                  <a:tcPr anchor="ctr" marT="36576" marB="36576" marL="73152" marR="73152">
                    <a:solidFill>
                      <a:srgbClr val="1E2B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Stripe Crypto</a:t>
                      </a:r>
                    </a:p>
                  </a:txBody>
                  <a:tcPr anchor="ctr" marT="36576" marB="36576" marL="73152" marR="73152">
                    <a:solidFill>
                      <a:srgbClr val="2A265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결제 레이어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온체인 (스마트 컨트랙트)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오프체인 (내부 원장)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온체인 (스마트 컨트랙트)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온+오프체인 하이브리드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블록체인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Base L2 (OP Stack)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N/A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Base L2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ETH/SOL/Polygon+Tempo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성능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~2초 정산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10,000+ TPS, 10ms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~200ms (Base)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Tempo: 100K+ TPS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DEX 통합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Uniswap V3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내부 FX Engine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Uniswap V3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Bridge 오케스트레이션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보안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Spearbit 감사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HMAC-SHA512, KYC 3단계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Spearbit 감사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Stripe Radar, OCC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월렛 지원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모든 EVM 지갑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Binance 앱만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모든 EVM 지갑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400+ 월렛 (Privy)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사용자 평점 및 핵심 Pain Points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188720"/>
          <a:ext cx="1124712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286000"/>
                <a:gridCol w="2286000"/>
                <a:gridCol w="2286000"/>
                <a:gridCol w="228600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Base Pay</a:t>
                      </a:r>
                    </a:p>
                  </a:txBody>
                  <a:tcPr anchor="ctr" marT="36576" marB="36576" marL="73152" marR="73152">
                    <a:solidFill>
                      <a:srgbClr val="1A2E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Binance Pay</a:t>
                      </a:r>
                    </a:p>
                  </a:txBody>
                  <a:tcPr anchor="ctr" marT="36576" marB="36576" marL="73152" marR="73152">
                    <a:solidFill>
                      <a:srgbClr val="3D35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Coinbase Commerce</a:t>
                      </a:r>
                    </a:p>
                  </a:txBody>
                  <a:tcPr anchor="ctr" marT="36576" marB="36576" marL="73152" marR="73152">
                    <a:solidFill>
                      <a:srgbClr val="1E2B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Stripe Crypto</a:t>
                      </a:r>
                    </a:p>
                  </a:txBody>
                  <a:tcPr anchor="ctr" marT="36576" marB="36576" marL="73152" marR="73152">
                    <a:solidFill>
                      <a:srgbClr val="2A265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Capterra/G2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4.4/5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4.5/5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4.0~4.4/5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4.0/5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Trustpilot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N/A (BBB F)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1.4/5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1.3/5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2.7/5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최대 불만 1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고객 지원 부재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고객 지원 품질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고객 지원 부재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미국 전용 제한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최대 불만 2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Commerce 종료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계정 동결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환불 수동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1.5% 수수료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최대 불만 3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법정화폐 정산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Binance 계정 필수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플랫폼 전환 불확실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T+2 정산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029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공통 Pain Point: 고객 지원 품질 (4개 중 3개), 법정화폐 정산 제한 (3개)
차별적: Stripe만 고객 지원 불만이 상위가 아님 (대신 지역 제한)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AI 에이전트 결제 경쟁 -- "에이전트 결제 전쟁"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188720"/>
          <a:ext cx="1124712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3200400"/>
                <a:gridCol w="393192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프로토콜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주도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결제 모델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4개 서비스 관계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x402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Coinbase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요청당 즉시 (HTTP 402)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Base Pay(주도), Stripe(멤버)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MPP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Stripe/Tempo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세션 배치 정산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Stripe(주도)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ACP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OpenAI/Stripe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에이전트-가맹점 체크아웃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Stripe(인프라)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AP2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Google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지출 권한 관리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간접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TAP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Visa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카드 네트워크 위 에이전트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Stripe(Tempo 검증자)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Agent Ready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PayPal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PayPal 생태계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경쟁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029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C4D4"/>
                </a:solidFill>
                <a:latin typeface="Malgun Gothic"/>
              </a:rPr>
              <a:t>Stripe 이중 전략: x402+MPP+ACP 3개 동시 참여 -- 어떤 표준이든 Stripe 존재
Base Pay x402: 1.19억 건, 연간화 $600M (다만 실질 일일 ~$28K)
Binance Pay / Coinbase Commerce: AI 에이전트 결제 직접 참여 없음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시장 트렌드와 4개 서비스의 대응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188720"/>
          <a:ext cx="1124712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286000"/>
                <a:gridCol w="2286000"/>
                <a:gridCol w="2286000"/>
                <a:gridCol w="228600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트렌드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Base Pay</a:t>
                      </a:r>
                    </a:p>
                  </a:txBody>
                  <a:tcPr anchor="ctr" marT="36576" marB="36576" marL="73152" marR="73152">
                    <a:solidFill>
                      <a:srgbClr val="1A2E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Binance Pay</a:t>
                      </a:r>
                    </a:p>
                  </a:txBody>
                  <a:tcPr anchor="ctr" marT="36576" marB="36576" marL="73152" marR="73152">
                    <a:solidFill>
                      <a:srgbClr val="3D35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Coinbase Commerce</a:t>
                      </a:r>
                    </a:p>
                  </a:txBody>
                  <a:tcPr anchor="ctr" marT="36576" marB="36576" marL="73152" marR="73152">
                    <a:solidFill>
                      <a:srgbClr val="1E2B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Stripe Crypto</a:t>
                      </a:r>
                    </a:p>
                  </a:txBody>
                  <a:tcPr anchor="ctr" marT="36576" marB="36576" marL="73152" marR="73152">
                    <a:solidFill>
                      <a:srgbClr val="2A265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스테이블코인 결제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USDC 기본, x402 98.7%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B2C 98% 스테이블코인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USDC 자동 환전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USDC/USDP/USDG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L2 저비용 결제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Base L2 소유 (~$0.01)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오프체인 (0원)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Base L2 활용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+Tempo 자체 L1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AI 에이전트 결제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x402 주도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미참여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미참여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x402+MPP+ACP 3중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전통 결제사 진출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오픈소스로 대응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독자 생태계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Shopify 파트너십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자체가 전통 결제사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규제 명확화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미국 상장사, MSB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70개국+ 리스크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GENIUS Act 수혜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OCC 면허, 가장 유리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각 서비스 권고사항 종합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188720"/>
          <a:ext cx="1124712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468880"/>
                <a:gridCol w="2468880"/>
                <a:gridCol w="2468880"/>
                <a:gridCol w="246888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우선순위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Base Pay</a:t>
                      </a:r>
                    </a:p>
                  </a:txBody>
                  <a:tcPr anchor="ctr" marT="36576" marB="36576" marL="73152" marR="73152">
                    <a:solidFill>
                      <a:srgbClr val="1A2E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Binance Pay</a:t>
                      </a:r>
                    </a:p>
                  </a:txBody>
                  <a:tcPr anchor="ctr" marT="36576" marB="36576" marL="73152" marR="73152">
                    <a:solidFill>
                      <a:srgbClr val="3D35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Coinbase Commerce</a:t>
                      </a:r>
                    </a:p>
                  </a:txBody>
                  <a:tcPr anchor="ctr" marT="36576" marB="36576" marL="73152" marR="73152">
                    <a:solidFill>
                      <a:srgbClr val="1E2B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Stripe Crypto</a:t>
                      </a:r>
                    </a:p>
                  </a:txBody>
                  <a:tcPr anchor="ctr" marT="36576" marB="36576" marL="73152" marR="73152">
                    <a:solidFill>
                      <a:srgbClr val="2A265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P0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24/7 고객 지원 구축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고객 지원 전면 개편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실시간 지원 채널 구축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가맹점 수취 글로벌 확대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P0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법정화폐 직접 정산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법정화폐 직접 정산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환불 자동화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볼륨 할인 티어 (1%이하)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P1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온체인 구매자 보호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구독/반복 결제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총비용 투명화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Tempo T+0 정산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P1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자동 환불 워크플로우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이커머스 플러그인 확대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다국통화 법정화폐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온체인 분쟁 해결 파일럿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P2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다중 언어 SDK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서버사이드 SDK+문서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Protocol 멀티 플랫폼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다통화 정산 (EUR, GBP)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P2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x402 스펙-구현 일관성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게스트 체크아웃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API 문서+플러그인 유지보수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BTC/ETH 직접 수취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전략적 시사점 -- 5대 핵심 발견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96012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88720"/>
            <a:ext cx="36576" cy="96012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1344168"/>
            <a:ext cx="365760" cy="365760"/>
          </a:xfrm>
          <a:prstGeom prst="ellipse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261872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법정화폐 정산이 메인스트림 채택의 최대 결정 요인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57276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C4D4"/>
                </a:solidFill>
                <a:latin typeface="Malgun Gothic"/>
              </a:rPr>
              <a:t>4개 서비스 중 자동 법정화폐 정산은 Stripe만 제공. 전통 사업자 온보딩의 핵심 차별화 요소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240280"/>
            <a:ext cx="11064240" cy="96012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240280"/>
            <a:ext cx="36576" cy="96012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2395728"/>
            <a:ext cx="365760" cy="365760"/>
          </a:xfrm>
          <a:prstGeom prst="ellipse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313432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"독립 수익 사업"은 없다 -- 모두 전략적 인프라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62432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C4D4"/>
                </a:solidFill>
                <a:latin typeface="Malgun Gothic"/>
              </a:rPr>
              <a:t>Base Pay(시퀀서비+USDC), Binance Pay(0.6%), Coinbase(락인), Stripe(전환). 결제 자체 수익보다 생태계 가치가 핵심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91840"/>
            <a:ext cx="11064240" cy="96012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291840"/>
            <a:ext cx="36576" cy="96012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3447288"/>
            <a:ext cx="365760" cy="365760"/>
          </a:xfrm>
          <a:prstGeom prst="ellipse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364992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환불/소비자 보호가 업계 전체의 미해결 과제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67588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C4D4"/>
                </a:solidFill>
                <a:latin typeface="Malgun Gothic"/>
              </a:rPr>
              <a:t>4개 서비스 모두 차지백/구매자 보호 미제공. Base Pay 에스크로가 가장 진전된 시도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343400"/>
            <a:ext cx="11064240" cy="96012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343400"/>
            <a:ext cx="36576" cy="96012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5800" y="4498848"/>
            <a:ext cx="365760" cy="365760"/>
          </a:xfrm>
          <a:prstGeom prst="ellipse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416552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Stripe의 수직 통합이 구조적 위협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72744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C4D4"/>
                </a:solidFill>
                <a:latin typeface="Malgun Gothic"/>
              </a:rPr>
              <a:t>Bridge+Tempo+Privy+Stripe 풀스택은 복제 불가. 미국 전용+1.5%가 단기 기회 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394960"/>
            <a:ext cx="11064240" cy="96012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394960"/>
            <a:ext cx="36576" cy="96012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5800" y="5550408"/>
            <a:ext cx="365760" cy="365760"/>
          </a:xfrm>
          <a:prstGeom prst="ellipse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5468112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AI 에이전트 결제가 차세대 성장 동인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77900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C4D4"/>
                </a:solidFill>
                <a:latin typeface="Malgun Gothic"/>
              </a:rPr>
              <a:t>Stripe 3개 동시 참여로 가장 유리. Binance Pay/Coinbase Commerce는 부재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서비스별 최적 사용 시나리오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61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188720"/>
          <a:ext cx="11247120" cy="3419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  <a:gridCol w="484632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시나리오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최적 서비스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근거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실물 이커머스 (배송 후 결제)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Base Pay / Coinbase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에스크로 (Auth-Capture) 지원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디지털 상품 즉시 결제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Base Pay, Coinbase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즉시 정산, 저비용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법정화폐 정산 필수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Stripe Crypto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자동 USD 정산, 기존 Stripe 통합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Binance 사용자 기반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Binance Pay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P2P 무료, 3억 사용자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글로벌 법정화폐 정산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BitPay (4개 외)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38개국 직접 정산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AI 에이전트 API 과금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Base Pay / Stripe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건당 마이크로페이먼트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SaaS 구독 결제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Stripe Crypto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스마트 컨트랙트 반복 결제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신흥국/금융 포용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Binance Pay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사용자 기반, 오프체인 무가스비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크립토 네이티브 / 비용 최소화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Base Pay / Coinbase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1% + $0.01, 오픈소스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고가 물품 (차지백 회피)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모든 크립토 결제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8C4D4"/>
                          </a:solidFill>
                          <a:latin typeface="Malgun Gothic"/>
                        </a:rPr>
                        <a:t>비가역적 결제로 사기 분쟁 방지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데이터 신뢰도 평가 종합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62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188720"/>
          <a:ext cx="1124712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286000"/>
                <a:gridCol w="2286000"/>
                <a:gridCol w="2286000"/>
                <a:gridCol w="228600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분석 영역</a:t>
                      </a:r>
                    </a:p>
                  </a:txBody>
                  <a:tcPr anchor="ctr" marT="36576" marB="36576" marL="73152" marR="73152">
                    <a:solidFill>
                      <a:srgbClr val="2D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Base Pay</a:t>
                      </a:r>
                    </a:p>
                  </a:txBody>
                  <a:tcPr anchor="ctr" marT="36576" marB="36576" marL="73152" marR="73152">
                    <a:solidFill>
                      <a:srgbClr val="1A2E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Binance Pay</a:t>
                      </a:r>
                    </a:p>
                  </a:txBody>
                  <a:tcPr anchor="ctr" marT="36576" marB="36576" marL="73152" marR="73152">
                    <a:solidFill>
                      <a:srgbClr val="3D35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Coinbase Commerce</a:t>
                      </a:r>
                    </a:p>
                  </a:txBody>
                  <a:tcPr anchor="ctr" marT="36576" marB="36576" marL="73152" marR="73152">
                    <a:solidFill>
                      <a:srgbClr val="1E2B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Stripe Crypto</a:t>
                      </a:r>
                    </a:p>
                  </a:txBody>
                  <a:tcPr anchor="ctr" marT="36576" marB="36576" marL="73152" marR="73152">
                    <a:solidFill>
                      <a:srgbClr val="2A265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결제 프로세스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높음 (오픈소스)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높음 (공식 문서)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높음 (오픈소스)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높음 (공식 문서)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정산 프로세스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높음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높음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높음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높음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환불/분쟁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중-높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높음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중-높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높음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수수료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높음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높음 (FX 비공개)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중-높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높음 (일부 미공개)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시장 데이터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중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중-높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중-상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중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사용자 인사이트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중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중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중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중</a:t>
                      </a:r>
                    </a:p>
                  </a:txBody>
                  <a:tcPr anchor="ctr" marT="36576" marB="36576" marL="73152" marR="73152">
                    <a:solidFill>
                      <a:srgbClr val="1E2D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기술 아키텍처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높음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중-높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높음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B8C4D4"/>
                          </a:solidFill>
                          <a:latin typeface="Malgun Gothic"/>
                        </a:rPr>
                        <a:t>높음/중</a:t>
                      </a:r>
                    </a:p>
                  </a:txBody>
                  <a:tcPr anchor="ctr" marT="36576" marB="36576" marL="73152" marR="73152">
                    <a:solidFill>
                      <a:srgbClr val="18233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3035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8B9E"/>
                </a:solidFill>
                <a:latin typeface="Malgun Gothic"/>
              </a:rPr>
              <a:t>교차 검증: 4개 보고서 간 주요 수치 일관성 확인 완료
주의: 시장 규모는 기관별 정의 차이로 2배+ 편차, x402 채택 수치는 테스트 거래 포함 의심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결론 및 핵심 메시지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63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11277295" cy="82296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45720" cy="82296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34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algun Gothic"/>
              </a:rPr>
              <a:t>크립토 결제는 "별도 카테고리"에서 "기존 결제 인프라의 일부"로 전환 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86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B47BC"/>
                </a:solidFill>
                <a:latin typeface="Malgun Gothic"/>
              </a:rPr>
              <a:t>1. 스테이블코인이 결제의 표준으로 부상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517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4D4"/>
                </a:solidFill>
                <a:latin typeface="Malgun Gothic"/>
              </a:rPr>
              <a:t>Binance Pay B2C 98%, x402 USDC 98.7%, 모든 서비스가 USDC/USDT 중심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B47BC"/>
                </a:solidFill>
                <a:latin typeface="Malgun Gothic"/>
              </a:rPr>
              <a:t>2. 법정화폐 자동 정산이 채택의 분수령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4D4"/>
                </a:solidFill>
                <a:latin typeface="Malgun Gothic"/>
              </a:rPr>
              <a:t>현재 Stripe만 자동 제공. Base Pay/Binance Pay/Coinbase Commerce 모두 간접/미지원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B47BC"/>
                </a:solidFill>
                <a:latin typeface="Malgun Gothic"/>
              </a:rPr>
              <a:t>3. AI 에이전트 결제가 차세대 전장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6634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4D4"/>
                </a:solidFill>
                <a:latin typeface="Malgun Gothic"/>
              </a:rPr>
              <a:t>Stripe(3중 전략)과 Base Pay(x402)가 선점 경쟁 중. 90일 내 6개 프로토콜 론칭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03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B47BC"/>
                </a:solidFill>
                <a:latin typeface="Malgun Gothic"/>
              </a:rPr>
              <a:t>4. 운영 품질이 기술 혁신만큼 중요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6692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4D4"/>
                </a:solidFill>
                <a:latin typeface="Malgun Gothic"/>
              </a:rPr>
              <a:t>4개 서비스 중 3개에서 고객 지원이 최대 불만. 기술 우위가 운영 품질을 따라가지 못함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73152" cy="77724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부록 -- 주요 출처 및 참고 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8B9E"/>
                </a:solidFill>
                <a:latin typeface="Malgun Gothic"/>
              </a:rPr>
              <a:t>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B9E"/>
                </a:solidFill>
                <a:latin typeface="Malgun Gothic"/>
              </a:rPr>
              <a:t>내부 공유용 /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B47BC"/>
                </a:solidFill>
                <a:latin typeface="Malgun Gothic"/>
              </a:rPr>
              <a:t>공식 소스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A8B9E"/>
                </a:solidFill>
                <a:latin typeface="Malgun Gothic"/>
              </a:rPr>
              <a:t>Stripe Docs, Coinbase Blog/Help, Binance Merchant Docs, GitHub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B47BC"/>
                </a:solidFill>
                <a:latin typeface="Malgun Gothic"/>
              </a:rPr>
              <a:t>시장 데이터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A8B9E"/>
                </a:solidFill>
                <a:latin typeface="Malgun Gothic"/>
              </a:rPr>
              <a:t>Research Nester, GII Research, CoinLaw, McKinsey, PYMNTS, eMarketer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2608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B47BC"/>
                </a:solidFill>
                <a:latin typeface="Malgun Gothic"/>
              </a:rPr>
              <a:t>경쟁사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46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A8B9E"/>
                </a:solidFill>
                <a:latin typeface="Malgun Gothic"/>
              </a:rPr>
              <a:t>BitPay, CoinGate, NOWPayments, PayPal, Circle CPN, Crypto.com Pay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033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B47BC"/>
                </a:solidFill>
                <a:latin typeface="Malgun Gothic"/>
              </a:rPr>
              <a:t>규제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23359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A8B9E"/>
                </a:solidFill>
                <a:latin typeface="Malgun Gothic"/>
              </a:rPr>
              <a:t>GENIUS Act (US), MiCA (EU)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480559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B47BC"/>
                </a:solidFill>
                <a:latin typeface="Malgun Gothic"/>
              </a:rPr>
              <a:t>사용자 리뷰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00599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A8B9E"/>
                </a:solidFill>
                <a:latin typeface="Malgun Gothic"/>
              </a:rPr>
              <a:t>Trustpilot, G2, Capterra, Reddit, Hacker News, GitHub Issues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440679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분석 기준일: 2026-04-15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